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20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lnSpc>
                <a:spcPct val="115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b="1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Problem Statement ID – 26160</a:t>
            </a:r>
          </a:p>
          <a:p>
            <a:pPr marL="228600" indent="-228600" algn="just">
              <a:lnSpc>
                <a:spcPct val="115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b="1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Problem Statement Title – AI-Powered IPsec VPN Protocol Analyzer and Security Assessment Framework</a:t>
            </a:r>
          </a:p>
          <a:p>
            <a:pPr marL="228600" indent="-228600" algn="just">
              <a:lnSpc>
                <a:spcPct val="115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b="1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Theme – Blockchain &amp; Cybersecurity</a:t>
            </a:r>
          </a:p>
          <a:p>
            <a:pPr marL="228600" indent="-228600" algn="just">
              <a:lnSpc>
                <a:spcPct val="115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b="1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PS Category – Software</a:t>
            </a:r>
          </a:p>
          <a:p>
            <a:pPr marL="228600" indent="-228600" algn="just">
              <a:lnSpc>
                <a:spcPct val="115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b="1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Organization – National Technical Research Organisation (NTRO)</a:t>
            </a:r>
          </a:p>
          <a:p>
            <a:pPr marL="228600" indent="-228600" algn="just">
              <a:lnSpc>
                <a:spcPct val="115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b="1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Team ID – &lt;Enter Team ID&gt;</a:t>
            </a:r>
          </a:p>
          <a:p>
            <a:pPr marL="228600" indent="-228600" algn="just">
              <a:lnSpc>
                <a:spcPct val="115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b="1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Team Name – &lt;Enter Registered Team Name&gt;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184" y="1078992"/>
            <a:ext cx="9281160" cy="960120"/>
          </a:xfrm>
        </p:spPr>
        <p:txBody>
          <a:bodyPr wrap="square"/>
          <a:lstStyle/>
          <a:p>
            <a:pPr eaLnBrk="1" hangingPunct="1" algn="l"/>
            <a:r>
              <a:rPr lang="en-US" sz="2000" b="1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IPsec Sentinel – AI-Driven IPsec VPN Protocol Analyzer &amp; Security Assessment Framework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148840"/>
            <a:ext cx="12191999" cy="1783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u="sng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Proposed Solution</a:t>
            </a:r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AI-driven platform that inspects captured/live IPsec traffic, auto-identifies the exact protocol configuration, and outputs an automated, explainable security assessment.</a:t>
            </a:r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Addresses the gap between raw packet captures and actionable security judgement — no manual, expert-only Wireshark analysis required.</a:t>
            </a:r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Novelty: classifies encrypted ESP traffic type via ML flow-fingerprinting (size/timing/direction patterns) and converts findings into a graded Risk Score + Threat Matrix.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502920" y="4160520"/>
            <a:ext cx="2514600" cy="1600200"/>
          </a:xfrm>
          <a:prstGeom prst="roundRect">
            <a:avLst>
              <a:gd name="adj" fmla="val 1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  VPN Testbed &amp;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Traffic Capture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StrongSwan tunnels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+ Wireshark/tcpdump</a:t>
            </a:r>
          </a:p>
        </p:txBody>
      </p:sp>
      <p:cxnSp>
        <p:nvCxnSpPr>
          <p:cNvPr id="15364" name="Connector 15363"/>
          <p:cNvCxnSpPr/>
          <p:nvPr/>
        </p:nvCxnSpPr>
        <p:spPr>
          <a:xfrm>
            <a:off x="3035808" y="4960620"/>
            <a:ext cx="347471" cy="0"/>
          </a:xfrm>
          <a:prstGeom prst="line">
            <a:avLst/>
          </a:prstGeom>
          <a:ln w="25400">
            <a:solidFill>
              <a:srgbClr val="1F49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5" name="Rounded Rectangle 15364"/>
          <p:cNvSpPr/>
          <p:nvPr/>
        </p:nvSpPr>
        <p:spPr>
          <a:xfrm>
            <a:off x="3401568" y="4160520"/>
            <a:ext cx="2514600" cy="16002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2  AI Protocol &amp;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Traffic Engine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Parses IKE + ESP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flow features</a:t>
            </a:r>
          </a:p>
        </p:txBody>
      </p:sp>
      <p:cxnSp>
        <p:nvCxnSpPr>
          <p:cNvPr id="15366" name="Connector 15365"/>
          <p:cNvCxnSpPr/>
          <p:nvPr/>
        </p:nvCxnSpPr>
        <p:spPr>
          <a:xfrm>
            <a:off x="5934455" y="4960620"/>
            <a:ext cx="347473" cy="0"/>
          </a:xfrm>
          <a:prstGeom prst="line">
            <a:avLst/>
          </a:prstGeom>
          <a:ln w="25400">
            <a:solidFill>
              <a:srgbClr val="1F49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7" name="Rounded Rectangle 15366"/>
          <p:cNvSpPr/>
          <p:nvPr/>
        </p:nvSpPr>
        <p:spPr>
          <a:xfrm>
            <a:off x="6300216" y="4160520"/>
            <a:ext cx="2514600" cy="16002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3  Security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Assessment Engine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Crypto strength,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PFS, replay checks</a:t>
            </a:r>
          </a:p>
        </p:txBody>
      </p:sp>
      <p:cxnSp>
        <p:nvCxnSpPr>
          <p:cNvPr id="15368" name="Connector 15367"/>
          <p:cNvCxnSpPr/>
          <p:nvPr/>
        </p:nvCxnSpPr>
        <p:spPr>
          <a:xfrm>
            <a:off x="8833104" y="4960620"/>
            <a:ext cx="347472" cy="0"/>
          </a:xfrm>
          <a:prstGeom prst="line">
            <a:avLst/>
          </a:prstGeom>
          <a:ln w="25400">
            <a:solidFill>
              <a:srgbClr val="1F49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9" name="Rounded Rectangle 15368"/>
          <p:cNvSpPr/>
          <p:nvPr/>
        </p:nvSpPr>
        <p:spPr>
          <a:xfrm>
            <a:off x="9198864" y="4160520"/>
            <a:ext cx="2514600" cy="1600200"/>
          </a:xfrm>
          <a:prstGeom prst="roundRect">
            <a:avLst>
              <a:gd name="adj" fmla="val 10000"/>
            </a:avLst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4  Dashboard &amp;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Auto Report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Risk Score, Threat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Matrix, AI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34440"/>
            <a:ext cx="11155680" cy="150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500"/>
              </a:spcAft>
              <a:buFont typeface="Arial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Tech stack: Python, Scapy/PyShark (parsing), scikit-learn / XGBoost (ML classifier), Flask/FastAPI + React (interactive dashboard)</a:t>
            </a:r>
          </a:p>
          <a:p>
            <a:pPr marL="228600" indent="-228600">
              <a:lnSpc>
                <a:spcPct val="108000"/>
              </a:lnSpc>
              <a:spcAft>
                <a:spcPts val="500"/>
              </a:spcAft>
              <a:buFont typeface="Arial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Testbed: StrongSwan/Libreswan on Linux VMs (Docker/GNS3) — Tunnel &amp; Transport mode, AES-128/256, AES-GCM, AES-CBC+HMAC, multiple DH groups, PFS on/off, IPv4 &amp; IPv6</a:t>
            </a:r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Font typeface="Arial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Capture: Wireshark / tcpdump for IKE negotiation, ESP, AH and control traffic, labelled by configuration and traffic type (VoIP, web, e-mail, video, ICMP)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2648" y="2834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Arial"/>
              </a:rPr>
              <a:t>Methodology / Workflow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3246120"/>
            <a:ext cx="3246120" cy="1051560"/>
          </a:xfrm>
          <a:prstGeom prst="roundRect">
            <a:avLst>
              <a:gd name="adj" fmla="val 9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   VPN Testbed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Generation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Multi-config IPsec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tunnels (StrongSwan)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3877055" y="3771900"/>
            <a:ext cx="420625" cy="0"/>
          </a:xfrm>
          <a:prstGeom prst="line">
            <a:avLst/>
          </a:prstGeom>
          <a:ln w="27940">
            <a:solidFill>
              <a:srgbClr val="1F49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ounded Rectangle 17413"/>
          <p:cNvSpPr/>
          <p:nvPr/>
        </p:nvSpPr>
        <p:spPr>
          <a:xfrm>
            <a:off x="4315968" y="3246120"/>
            <a:ext cx="3246120" cy="1051560"/>
          </a:xfrm>
          <a:prstGeom prst="roundRect">
            <a:avLst>
              <a:gd name="adj" fmla="val 9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   Traffic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Capture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Wireshark / tcpdump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IKE, ESP, AH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7580375" y="3771900"/>
            <a:ext cx="420625" cy="0"/>
          </a:xfrm>
          <a:prstGeom prst="line">
            <a:avLst/>
          </a:prstGeom>
          <a:ln w="27940">
            <a:solidFill>
              <a:srgbClr val="1F49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8019288" y="3246120"/>
            <a:ext cx="3246120" cy="1051560"/>
          </a:xfrm>
          <a:prstGeom prst="roundRect">
            <a:avLst>
              <a:gd name="adj" fmla="val 9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   Feature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Extraction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IKE fields + ESP flow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statistics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12648" y="4892040"/>
            <a:ext cx="3246120" cy="1051560"/>
          </a:xfrm>
          <a:prstGeom prst="roundRect">
            <a:avLst>
              <a:gd name="adj" fmla="val 9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   AI Classification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Engine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Mode, cipher, DH group,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traffic type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3877055" y="5417820"/>
            <a:ext cx="420625" cy="0"/>
          </a:xfrm>
          <a:prstGeom prst="line">
            <a:avLst/>
          </a:prstGeom>
          <a:ln w="27940">
            <a:solidFill>
              <a:srgbClr val="1F49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4315968" y="4892040"/>
            <a:ext cx="3246120" cy="1051560"/>
          </a:xfrm>
          <a:prstGeom prst="roundRect">
            <a:avLst>
              <a:gd name="adj" fmla="val 9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   Security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Assessment Engine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Crypto strength, PFS,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replay, key lifetime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7580375" y="5417820"/>
            <a:ext cx="420625" cy="0"/>
          </a:xfrm>
          <a:prstGeom prst="line">
            <a:avLst/>
          </a:prstGeom>
          <a:ln w="27940">
            <a:solidFill>
              <a:srgbClr val="1F49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ounded Rectangle 17420"/>
          <p:cNvSpPr/>
          <p:nvPr/>
        </p:nvSpPr>
        <p:spPr>
          <a:xfrm>
            <a:off x="8019288" y="4892040"/>
            <a:ext cx="3246120" cy="1051560"/>
          </a:xfrm>
          <a:prstGeom prst="roundRect">
            <a:avLst>
              <a:gd name="adj" fmla="val 9000"/>
            </a:avLst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   Dashboard &amp;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Reports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Risk Score, Threat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Matrix, Confidence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9642348" y="4297679"/>
            <a:ext cx="0" cy="297180"/>
          </a:xfrm>
          <a:prstGeom prst="line">
            <a:avLst/>
          </a:prstGeom>
          <a:ln w="27940">
            <a:solidFill>
              <a:srgbClr val="1F49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3" name="Connector 17422"/>
          <p:cNvCxnSpPr/>
          <p:nvPr/>
        </p:nvCxnSpPr>
        <p:spPr>
          <a:xfrm flipH="1">
            <a:off x="2235708" y="4594859"/>
            <a:ext cx="7406640" cy="0"/>
          </a:xfrm>
          <a:prstGeom prst="line">
            <a:avLst/>
          </a:prstGeom>
          <a:ln w="27940">
            <a:solidFill>
              <a:srgbClr val="1F49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4" name="Connector 17423"/>
          <p:cNvCxnSpPr/>
          <p:nvPr/>
        </p:nvCxnSpPr>
        <p:spPr>
          <a:xfrm>
            <a:off x="2235708" y="4594859"/>
            <a:ext cx="0" cy="297181"/>
          </a:xfrm>
          <a:prstGeom prst="line">
            <a:avLst/>
          </a:prstGeom>
          <a:ln w="27940">
            <a:solidFill>
              <a:srgbClr val="1F49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34440"/>
            <a:ext cx="11155680" cy="141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500"/>
              </a:spcAft>
              <a:buFont typeface="Arial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Feasible with an open-source stack (StrongSwan, Scapy, scikit-learn) — low cost, modular design, buildable in incremental phases</a:t>
            </a:r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Font typeface="Arial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Core risk: ESP payload is encrypted, so traffic-type inference relies on statistical fingerprinting rather than content — mitigated by a large, well-labelled testbed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2648" y="2788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Arial"/>
              </a:rPr>
              <a:t>Key Risks &amp; Mitigation Strategy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324612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Oval 17412"/>
          <p:cNvSpPr/>
          <p:nvPr/>
        </p:nvSpPr>
        <p:spPr>
          <a:xfrm>
            <a:off x="777240" y="3410712"/>
            <a:ext cx="457200" cy="4572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389888" y="3392424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95959"/>
                </a:solidFill>
                <a:latin typeface="Arial"/>
              </a:rPr>
              <a:t>Risk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95528" y="3931920"/>
            <a:ext cx="3246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97D"/>
                </a:solidFill>
                <a:latin typeface="Arial"/>
              </a:rPr>
              <a:t>Encrypted ESP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97D"/>
                </a:solidFill>
                <a:latin typeface="Arial"/>
              </a:rPr>
              <a:t>payload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95528" y="466344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222"/>
                </a:solidFill>
                <a:latin typeface="Arial"/>
              </a:rPr>
              <a:t>Statistical flow fingerprinting (packet size, timing,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222"/>
                </a:solidFill>
                <a:latin typeface="Arial"/>
              </a:rPr>
              <a:t>direction) instead of content inspection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407408" y="324612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4572000" y="3410712"/>
            <a:ext cx="457200" cy="4572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184648" y="3392424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95959"/>
                </a:solidFill>
                <a:latin typeface="Arial"/>
              </a:rPr>
              <a:t>Risk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590288" y="3931920"/>
            <a:ext cx="3246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97D"/>
                </a:solidFill>
                <a:latin typeface="Arial"/>
              </a:rPr>
              <a:t>Diverse real-world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97D"/>
                </a:solidFill>
                <a:latin typeface="Arial"/>
              </a:rPr>
              <a:t>configurations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590288" y="466344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222"/>
                </a:solidFill>
                <a:latin typeface="Arial"/>
              </a:rPr>
              <a:t>Broad synthetic testbed covering modes, ciphers, DH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222"/>
                </a:solidFill>
                <a:latin typeface="Arial"/>
              </a:rPr>
              <a:t>groups, PFS and IPv4/IPv6 combinations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202168" y="324612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Oval 17422"/>
          <p:cNvSpPr/>
          <p:nvPr/>
        </p:nvSpPr>
        <p:spPr>
          <a:xfrm>
            <a:off x="8366760" y="3410712"/>
            <a:ext cx="457200" cy="4572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979408" y="3392424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95959"/>
                </a:solidFill>
                <a:latin typeface="Arial"/>
              </a:rPr>
              <a:t>Risk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385048" y="3931920"/>
            <a:ext cx="3246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97D"/>
                </a:solidFill>
                <a:latin typeface="Arial"/>
              </a:rPr>
              <a:t>False positives in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497D"/>
                </a:solidFill>
                <a:latin typeface="Arial"/>
              </a:rPr>
              <a:t>AI scoring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8385048" y="466344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222"/>
                </a:solidFill>
                <a:latin typeface="Arial"/>
              </a:rPr>
              <a:t>Confidence thresholds + rule-based cross-checks;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222"/>
                </a:solidFill>
                <a:latin typeface="Arial"/>
              </a:rPr>
              <a:t>human-in-the-loop review for low-confidence cases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34440"/>
            <a:ext cx="1115568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500"/>
              </a:spcAft>
              <a:buFont typeface="Arial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Target users: SOC analysts, government / defense network security teams, cloud &amp; enterprise infra teams, security auditors</a:t>
            </a:r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Font typeface="Arial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Turns hours of manual Wireshark/IKE analysis into an instant, standardized, explainable security grade for every IPsec deployment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2648" y="2697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Arial"/>
              </a:rPr>
              <a:t>Benefits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315468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Oval 17412"/>
          <p:cNvSpPr/>
          <p:nvPr/>
        </p:nvSpPr>
        <p:spPr>
          <a:xfrm>
            <a:off x="1709928" y="3337560"/>
            <a:ext cx="502920" cy="502920"/>
          </a:xfrm>
          <a:prstGeom prst="ellipse">
            <a:avLst/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22376" y="3977640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F497D"/>
                </a:solidFill>
                <a:latin typeface="Arial"/>
              </a:rPr>
              <a:t>Faster Assessment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49808" y="4325112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222222"/>
                </a:solidFill>
                <a:latin typeface="Arial"/>
              </a:rPr>
              <a:t>Minutes instead of hours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222222"/>
                </a:solidFill>
                <a:latin typeface="Arial"/>
              </a:rPr>
              <a:t>of manual packet review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566160" y="315468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Oval 17416"/>
          <p:cNvSpPr/>
          <p:nvPr/>
        </p:nvSpPr>
        <p:spPr>
          <a:xfrm>
            <a:off x="4663440" y="3337560"/>
            <a:ext cx="502920" cy="502920"/>
          </a:xfrm>
          <a:prstGeom prst="ellipse">
            <a:avLst/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675888" y="3977640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F497D"/>
                </a:solidFill>
                <a:latin typeface="Arial"/>
              </a:rPr>
              <a:t>Standardized Scoring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703320" y="4325112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222222"/>
                </a:solidFill>
                <a:latin typeface="Arial"/>
              </a:rPr>
              <a:t>Consistent security grade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222222"/>
                </a:solidFill>
                <a:latin typeface="Arial"/>
              </a:rPr>
              <a:t>across every deployment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519672" y="315468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Oval 17420"/>
          <p:cNvSpPr/>
          <p:nvPr/>
        </p:nvSpPr>
        <p:spPr>
          <a:xfrm>
            <a:off x="7616952" y="3337560"/>
            <a:ext cx="502920" cy="502920"/>
          </a:xfrm>
          <a:prstGeom prst="ellipse">
            <a:avLst/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629400" y="3977640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F497D"/>
                </a:solidFill>
                <a:latin typeface="Arial"/>
              </a:rPr>
              <a:t>Proactive Risk Detection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656832" y="4325112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222222"/>
                </a:solidFill>
                <a:latin typeface="Arial"/>
              </a:rPr>
              <a:t>Flags weak DH groups, no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222222"/>
                </a:solidFill>
                <a:latin typeface="Arial"/>
              </a:rPr>
              <a:t>PFS, outdated ciphers early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9473184" y="315468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Oval 17424"/>
          <p:cNvSpPr/>
          <p:nvPr/>
        </p:nvSpPr>
        <p:spPr>
          <a:xfrm>
            <a:off x="10570464" y="3337560"/>
            <a:ext cx="502920" cy="502920"/>
          </a:xfrm>
          <a:prstGeom prst="ellipse">
            <a:avLst/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582912" y="3977640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F497D"/>
                </a:solidFill>
                <a:latin typeface="Arial"/>
              </a:rPr>
              <a:t>Compliance-Ready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610344" y="4325112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222222"/>
                </a:solidFill>
                <a:latin typeface="Arial"/>
              </a:rPr>
              <a:t>Evidence trail aligned with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222222"/>
                </a:solidFill>
                <a:latin typeface="Arial"/>
              </a:rPr>
              <a:t>NIST SP 800-77 guidance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63040"/>
            <a:ext cx="11155680" cy="448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12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RFC 4301 – Security Architecture for the Internet Protocol (IPsec)</a:t>
            </a:r>
          </a:p>
          <a:p>
            <a:pPr marL="285750" indent="-285750">
              <a:lnSpc>
                <a:spcPct val="112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RFC 7296 – Internet Key Exchange Protocol Version 2 (IKEv2)</a:t>
            </a:r>
          </a:p>
          <a:p>
            <a:pPr marL="285750" indent="-285750">
              <a:lnSpc>
                <a:spcPct val="112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RFC 4303 / RFC 4302 – Encapsulating Security Payload (ESP) / Authentication Header (AH)</a:t>
            </a:r>
          </a:p>
          <a:p>
            <a:pPr marL="285750" indent="-285750">
              <a:lnSpc>
                <a:spcPct val="112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NIST SP 800-77 Rev. 1 – Guide to IPsec VPNs</a:t>
            </a:r>
          </a:p>
          <a:p>
            <a:pPr marL="285750" indent="-285750">
              <a:lnSpc>
                <a:spcPct val="112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StrongSwan and Wireshark official documentation – IPsec/IKE implementation &amp; packet analysis reference</a:t>
            </a:r>
          </a:p>
          <a:p>
            <a:pPr marL="285750" indent="-285750">
              <a:lnSpc>
                <a:spcPct val="112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Published research on machine-learning-based encrypted traffic classification (flow-based fingerprinting using packet size, timing and direction features)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2648" y="46817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Arial"/>
              </a:rPr>
              <a:t>Reference Categories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507492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813816" y="522122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Protocol Standards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13816" y="564184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222"/>
                </a:solidFill>
                <a:latin typeface="Arial"/>
              </a:rPr>
              <a:t>RFC 4301, 7296,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222"/>
                </a:solidFill>
                <a:latin typeface="Arial"/>
              </a:rPr>
              <a:t>4302, 4303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407408" y="507492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608576" y="522122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Government Guidelines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608576" y="564184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222"/>
                </a:solidFill>
                <a:latin typeface="Arial"/>
              </a:rPr>
              <a:t>NIST SP 800-77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222"/>
                </a:solidFill>
                <a:latin typeface="Arial"/>
              </a:rPr>
              <a:t>Rev. 1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202168" y="507492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8403336" y="522122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Tools &amp; Research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403336" y="564184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222"/>
                </a:solidFill>
                <a:latin typeface="Arial"/>
              </a:rPr>
              <a:t>StrongSwan, Wireshark,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222"/>
                </a:solidFill>
                <a:latin typeface="Arial"/>
              </a:rPr>
              <a:t>ML traffic-classification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