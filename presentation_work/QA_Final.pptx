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IPsec Sentinel addresses PS 26160 for NTRO. Our prototype turns IPsec packet captures into three clearly separated outputs: visible protocol evidence, model estimates, and rule-based security assessment. This presentation follows the implemented code and reproducible artifacts. We will show the controlled dataset, the actual model results, and a real dashboard example, including what the prototype cannot yet determine.</a:t>
            </a:r>
          </a:p>
          <a:p/>
          <a:p>
            <a:r>
              <a:t>Key technical point: Three distinct evidence categories.</a:t>
            </a:r>
          </a:p>
          <a:p>
            <a:r>
              <a:t>Evaluator question: Is this a concept or a working prototype?</a:t>
            </a:r>
          </a:p>
          <a:p>
            <a:r>
              <a:t>Answer: The repository contains runnable parsers, four trained artifacts, security rules, APIs, tests, and saved dashboard/report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 part is not opening a PCAP. It is deciding which protocol fields are actually visible, which settings need gateway evidence, and which security conclusions are justified. IKE negotiation can expose transforms, while ESP application content remains encrypted. Incomplete captures add uncertainty. Our aim is to structure that investigation and make its evidence boundaries visible.</a:t>
            </a:r>
          </a:p>
          <a:p/>
          <a:p>
            <a:r>
              <a:t>Key technical point: Visibility is not the same as certainty.</a:t>
            </a:r>
          </a:p>
          <a:p>
            <a:r>
              <a:t>Evaluator question: Can ESP reveal the application or full VPN configuration?</a:t>
            </a:r>
          </a:p>
          <a:p>
            <a:r>
              <a:t>Answer: It exposes headers and traffic shape, not plaintext or all hidden Child-SA settings.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implemented workflow automates extraction and produces a consistent assessment. It has three different jobs. Parsing decodes visible fields. Random Forest models estimate four configuration labels. Deterministic rules produce findings and scores from the available evidence. These outputs are displayed separately so that an estimate cannot silently become packet-observed fact. The analyst still resolves incomplete or conflicting evidence.</a:t>
            </a:r>
          </a:p>
          <a:p/>
          <a:p>
            <a:r>
              <a:t>Key technical point: Parsing, prediction and judgement have separate roles.</a:t>
            </a:r>
          </a:p>
          <a:p>
            <a:r>
              <a:t>Evaluator question: Does ML determine the security score?</a:t>
            </a:r>
          </a:p>
          <a:p>
            <a:r>
              <a:t>Answer: The observed configuration score is computed by TypeScript rules; ML produces separately tagged advisory findings.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sends captures to the local Scapy analyzer on port 8765. That service returns decoded observations and invokes the shared feature extractor and four model artifacts. The browser computes its observed scorecard and renders the combined result. A separate local API on 8770 handles persistence and gateway correlation. FastAPI also exposes an ML endpoint. If Scapy is unavailable, browser parsing remains available, but Python model inference is absent.</a:t>
            </a:r>
          </a:p>
          <a:p/>
          <a:p>
            <a:r>
              <a:t>Key technical point: The diagram matches actual frontend calls.</a:t>
            </a:r>
          </a:p>
          <a:p>
            <a:r>
              <a:t>Evaluator question: Is FastAPI the dashboard’s only backend?</a:t>
            </a:r>
          </a:p>
          <a:p>
            <a:r>
              <a:t>Answer: No. The default upload uses the Scapy HTTP service; FastAPI is a separate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factory configures two strongSwan peers, begins packet capture, generates traffic, and compares negotiated settings with the experiment. PFS-enabled runs require explicit rekey evidence. We counted 157 successful captures covering all 24 crypto combinations, across 33 crypto-and-traffic scenarios. The repository also retains 54 failure records. Forty-four definitions with five repetitions describe the intended matrix, not a completed campaign. CSV labels come from filenames, with negotiation metadata checked separately.</a:t>
            </a:r>
          </a:p>
          <a:p/>
          <a:p>
            <a:r>
              <a:t>Key technical point: Configuration labels have a saved negotiation trail.</a:t>
            </a:r>
          </a:p>
          <a:p>
            <a:r>
              <a:t>Evaluator question: Is this a production dataset or synthetic packet generator?</a:t>
            </a:r>
          </a:p>
          <a:p>
            <a:r>
              <a:t>Answer: These are controlled strongSwan lab captures with negotiation metadata. The browser’s separate testbed export is synthetic.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distinguish decoded protocol fields from measured packet statistics. The protocol parser exposes visible headers and transforms. The crypto models use exactly these eighteen numeric features, including packet counts, sizes, duration and IKE/ESP totals. The dashboard also measures timing, symmetry and entropy for a separate workload heuristic. Those are not the four models’ inputs. The encrypted ESP payload is never treated as readable application content.</a:t>
            </a:r>
          </a:p>
          <a:p/>
          <a:p>
            <a:r>
              <a:t>Key technical point: Use the actual trained feature schema.</a:t>
            </a:r>
          </a:p>
          <a:p>
            <a:r>
              <a:t>Evaluator question: Do entropy or packet sizes prove the cipher?</a:t>
            </a:r>
          </a:p>
          <a:p>
            <a:r>
              <a:t>Answer: No. They support statistical estimates at most; visible transforms or correlated gateway evidence are stronger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trained component is deliberately specific. There are four Random Forest classifiers, each with three hundred trees, predicting encryption, integrity, DH group and PFS class. Training uses 126 rows from repetitions one through four, with balanced class weights and a fixed seed. Inference selects the same eighteen columns in the saved order. There is no tunnel-mode model or application classifier here, and predicted-class probability is not measured accuracy.</a:t>
            </a:r>
          </a:p>
          <a:p/>
          <a:p>
            <a:r>
              <a:t>Key technical point: Closed-set crypto estimates, not arbitrary protocol discovery.</a:t>
            </a:r>
          </a:p>
          <a:p>
            <a:r>
              <a:t>Evaluator question: What happens for an unseen cipher or transport mode?</a:t>
            </a:r>
          </a:p>
          <a:p>
            <a:r>
              <a:t>Answer: The crypto model still selects among known labels; no OOD rejection exists. Mode is not a target and stays undetermined without other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reran inference using the saved models and the 31-row repetition-five test set. Cipher accuracy is 61.29 percent; hash is 100 percent; DH is 93.55 percent; PFS is 96.77 percent. The cipher confusion matrix makes its errors visible. These are small controlled-lab results with recurring configurations across train and test, not proof of generalization. Existing test suites also reveal two failing frontend report-text expectations, recorded in the fact check.</a:t>
            </a:r>
          </a:p>
          <a:p/>
          <a:p>
            <a:r>
              <a:t>Key technical point: Separate reproducibility from external validity.</a:t>
            </a:r>
          </a:p>
          <a:p>
            <a:r>
              <a:t>Evaluator question: Why is hash perfect but cipher weaker?</a:t>
            </a:r>
          </a:p>
          <a:p>
            <a:r>
              <a:t>Answer: These figures reflect this small split and lab capture patterns; the repository does not establish a causal or cross-network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sample’s visible AES-CBC setting triggers the implemented ten-point hardening penalty. Evidence coverage is sixty percent because PFS, replay configuration and lifetime are unavailable. The evidence-adjusted security score is therefore ninety times point six, or fifty-four. These are local rule outputs, not attack probabilities. Separately, the model predicts no PFS and creates an inferred advisory; that must not be promoted to a confirmed configuration finding.</a:t>
            </a:r>
          </a:p>
          <a:p/>
          <a:p>
            <a:r>
              <a:t>Key technical point: A low score can reflect incomplete evidence, not just observed risk.</a:t>
            </a:r>
          </a:p>
          <a:p>
            <a:r>
              <a:t>Evaluator question: Does a score of 54 mean the tunnel has been compromised?</a:t>
            </a:r>
          </a:p>
          <a:p>
            <a:r>
              <a:t>Answer: No. It combines a policy penalty and evidence coverage. Neither the score nor CBC observation establishes exploitation.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repository’s actual dashboard screenshot for the controlled ICMP capture. It shows the uploaded file, visible cipher and DH information, explicit unknown mode, risk and coverage, and the model-confidence summary. One useful limitation is visible: the workload heuristic ranks this ICMP example as VoIP. We are not presenting that label as successful application detection. The ninety-three percent card averages crypto-model probabilities; it does not validate the workload guess.</a:t>
            </a:r>
          </a:p>
          <a:p/>
          <a:p>
            <a:r>
              <a:t>Key technical point: Real UI evidence includes real limitations.</a:t>
            </a:r>
          </a:p>
          <a:p>
            <a:r>
              <a:t>Evaluator question: Why does the dashboard say VoIP for an ICMP test?</a:t>
            </a:r>
          </a:p>
          <a:p>
            <a:r>
              <a:t>Answer: Its workload function uses hand-written size/timing scores and is not validated as an application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exact demonstration file. The analyzer reads forty-six frames, including six IKE and forty ESP packets. The parser sees IKEv2, AES-CBC with a 128-bit key, SHA2-256 integrity and DH14. The models return the four predictions shown, while the observed rules produce the CBC note and the scores. The factory knows the controlled configuration, but the uploaded-capture path still correctly leaves hidden PFS and mode unknown.</a:t>
            </a:r>
          </a:p>
          <a:p/>
          <a:p>
            <a:r>
              <a:t>Key technical point: One sample shows all three evidence categories together.</a:t>
            </a:r>
          </a:p>
          <a:p>
            <a:r>
              <a:t>Evaluator question: Is this demo an independent model test?</a:t>
            </a:r>
          </a:p>
          <a:p>
            <a:r>
              <a:t>Answer: No. Repetition one is in the training partition. This is pipeline demonstration; slide 8 uses repetition-five held-out 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deployment today is local: a React interface, a Python Scapy analyzer, and an API with SQLite persistence and optional gateway evidence. The repository includes bounded live-capture agent code and strongSwan telemetry support, but this audit did not capture from a live interface. Docker scaffolding is present, yet its backend image omits shared ML modules and artifacts. Operational use therefore requires packaging work, deployment hardening, and external validation.</a:t>
            </a:r>
          </a:p>
          <a:p/>
          <a:p>
            <a:r>
              <a:t>Key technical point: Runnable local components are distinct from proven production deployment.</a:t>
            </a:r>
          </a:p>
          <a:p>
            <a:r>
              <a:t>Evaluator question: Can we deploy the Docker configuration unchanged with ML?</a:t>
            </a:r>
          </a:p>
          <a:p>
            <a:r>
              <a:t>Answer: The current backend image copies server code only, so ML dependencies in backend and feature_extractor must be packaged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prototype’s demonstrated value is standardization. Instead of reconstructing every result manually, an analyst gets structured observations, explicitly labeled model estimates, rule findings, and a reusable report. This maps directly to the problem statement’s analysis and assessment workflow. SOC teams, government or defence network teams, and auditors are intended users. We have not benchmarked analyst time savings or measured deployment impact, so those remain evaluation goals rather than claimed outcomes.</a:t>
            </a:r>
          </a:p>
          <a:p/>
          <a:p>
            <a:r>
              <a:t>Key technical point: The benefit is grounded in implemented outputs.</a:t>
            </a:r>
          </a:p>
          <a:p>
            <a:r>
              <a:t>Evaluator question: How much analyst time does this save?</a:t>
            </a:r>
          </a:p>
          <a:p>
            <a:r>
              <a:t>Answer: No controlled time study exists yet. The repository proves processing and report generation, not a speedup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closing claim is deliberately precise: IPsec Sentinel turns encrypted IPsec captures into an explainable assessment of the evidence that is available. The prototype has a controlled dataset, reproducible model evaluation, a working analysis flow and real report output. Its next step is broader validation and operational hardening. The principle remains the same: observe what is visible, label what is inferred, and show what is still unknown.</a:t>
            </a:r>
          </a:p>
          <a:p/>
          <a:p>
            <a:r>
              <a:t>Key technical point: Credibility comes from visible evidence and bounded claims.</a:t>
            </a:r>
          </a:p>
          <a:p>
            <a:r>
              <a:t>Evaluator question: What is the next technical milestone?</a:t>
            </a:r>
          </a:p>
          <a:p>
            <a:r>
              <a:t>Answer: Configuration- and network-disjoint validation, calibrated/OOD-aware inference, and verified deployment packaging.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SMART INDIA HACKATHON 2026</a:t>
            </a:r>
          </a:p>
        </p:txBody>
      </p:sp>
      <p:sp>
        <p:nvSpPr>
          <p:cNvPr id="3" name="TextBox 2"/>
          <p:cNvSpPr txBox="1"/>
          <p:nvPr/>
        </p:nvSpPr>
        <p:spPr>
          <a:xfrm>
            <a:off x="502920" y="667512"/>
            <a:ext cx="9646920" cy="960120"/>
          </a:xfrm>
          <a:prstGeom prst="rect">
            <a:avLst/>
          </a:prstGeom>
          <a:noFill/>
        </p:spPr>
        <p:txBody>
          <a:bodyPr wrap="square" lIns="18288" rIns="18288" tIns="0" bIns="0">
            <a:spAutoFit/>
          </a:bodyPr>
          <a:lstStyle/>
          <a:p>
            <a:pPr>
              <a:spcAft>
                <a:spcPts val="200"/>
              </a:spcAft>
              <a:defRPr sz="4800" b="1">
                <a:solidFill>
                  <a:srgbClr val="173D6A"/>
                </a:solidFill>
                <a:latin typeface="Georgia"/>
              </a:defRPr>
            </a:pPr>
            <a:r>
              <a:t>IPsec Sentinel</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536192"/>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Evidence baseline: repository audit and reproduced results; see PPT_FACT_CHECK.md.</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01</a:t>
            </a:r>
          </a:p>
        </p:txBody>
      </p:sp>
      <p:sp>
        <p:nvSpPr>
          <p:cNvPr id="10" name="TextBox 9"/>
          <p:cNvSpPr txBox="1"/>
          <p:nvPr/>
        </p:nvSpPr>
        <p:spPr>
          <a:xfrm>
            <a:off x="548640" y="1755648"/>
            <a:ext cx="7863840" cy="1051560"/>
          </a:xfrm>
          <a:prstGeom prst="rect">
            <a:avLst/>
          </a:prstGeom>
          <a:noFill/>
        </p:spPr>
        <p:txBody>
          <a:bodyPr wrap="square" lIns="18288" rIns="18288" tIns="0" bIns="0">
            <a:spAutoFit/>
          </a:bodyPr>
          <a:lstStyle/>
          <a:p>
            <a:pPr>
              <a:spcAft>
                <a:spcPts val="200"/>
              </a:spcAft>
              <a:defRPr sz="2800" b="0">
                <a:solidFill>
                  <a:srgbClr val="173D6A"/>
                </a:solidFill>
                <a:latin typeface="Calibri"/>
              </a:defRPr>
            </a:pPr>
            <a:r>
              <a:t>AI-Powered IPsec VPN Protocol Analyzer</a:t>
            </a:r>
          </a:p>
          <a:p>
            <a:pPr>
              <a:spcAft>
                <a:spcPts val="200"/>
              </a:spcAft>
              <a:defRPr sz="2800" b="0">
                <a:solidFill>
                  <a:srgbClr val="173D6A"/>
                </a:solidFill>
                <a:latin typeface="Calibri"/>
              </a:defRPr>
            </a:pPr>
            <a:r>
              <a:t>&amp; Security Assessment Framework</a:t>
            </a:r>
          </a:p>
        </p:txBody>
      </p:sp>
      <p:sp>
        <p:nvSpPr>
          <p:cNvPr id="11" name="TextBox 10"/>
          <p:cNvSpPr txBox="1"/>
          <p:nvPr/>
        </p:nvSpPr>
        <p:spPr>
          <a:xfrm>
            <a:off x="548640" y="2999232"/>
            <a:ext cx="8229600" cy="502920"/>
          </a:xfrm>
          <a:prstGeom prst="rect">
            <a:avLst/>
          </a:prstGeom>
          <a:noFill/>
        </p:spPr>
        <p:txBody>
          <a:bodyPr wrap="square" lIns="18288" rIns="18288" tIns="0" bIns="0">
            <a:spAutoFit/>
          </a:bodyPr>
          <a:lstStyle/>
          <a:p>
            <a:pPr>
              <a:spcAft>
                <a:spcPts val="200"/>
              </a:spcAft>
              <a:defRPr sz="2300" b="1">
                <a:solidFill>
                  <a:srgbClr val="0072BC"/>
                </a:solidFill>
                <a:latin typeface="Calibri"/>
              </a:defRPr>
            </a:pPr>
            <a:r>
              <a:t>From packet evidence to explainable assessment.</a:t>
            </a:r>
          </a:p>
        </p:txBody>
      </p:sp>
      <p:sp>
        <p:nvSpPr>
          <p:cNvPr id="12" name="Rounded Rectangle 11"/>
          <p:cNvSpPr/>
          <p:nvPr/>
        </p:nvSpPr>
        <p:spPr>
          <a:xfrm>
            <a:off x="548640" y="3886200"/>
            <a:ext cx="1920240" cy="13716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86200"/>
            <a:ext cx="50292" cy="137160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032504"/>
            <a:ext cx="160020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PS 26160</a:t>
            </a:r>
          </a:p>
        </p:txBody>
      </p:sp>
      <p:sp>
        <p:nvSpPr>
          <p:cNvPr id="15" name="TextBox 14"/>
          <p:cNvSpPr txBox="1"/>
          <p:nvPr/>
        </p:nvSpPr>
        <p:spPr>
          <a:xfrm>
            <a:off x="713232" y="4544568"/>
            <a:ext cx="1600200" cy="640080"/>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Software</a:t>
            </a:r>
          </a:p>
        </p:txBody>
      </p:sp>
      <p:sp>
        <p:nvSpPr>
          <p:cNvPr id="16" name="Rounded Rectangle 15"/>
          <p:cNvSpPr/>
          <p:nvPr/>
        </p:nvSpPr>
        <p:spPr>
          <a:xfrm>
            <a:off x="2670048" y="3886200"/>
            <a:ext cx="3611880" cy="13716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70048" y="3886200"/>
            <a:ext cx="50292" cy="137160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4032504"/>
            <a:ext cx="329184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NTRO</a:t>
            </a:r>
          </a:p>
        </p:txBody>
      </p:sp>
      <p:sp>
        <p:nvSpPr>
          <p:cNvPr id="19" name="TextBox 18"/>
          <p:cNvSpPr txBox="1"/>
          <p:nvPr/>
        </p:nvSpPr>
        <p:spPr>
          <a:xfrm>
            <a:off x="2834640" y="4544568"/>
            <a:ext cx="3291840" cy="640080"/>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National Technical Research Organisation</a:t>
            </a:r>
          </a:p>
        </p:txBody>
      </p:sp>
      <p:sp>
        <p:nvSpPr>
          <p:cNvPr id="20" name="Rounded Rectangle 19"/>
          <p:cNvSpPr/>
          <p:nvPr/>
        </p:nvSpPr>
        <p:spPr>
          <a:xfrm>
            <a:off x="6492240" y="3886200"/>
            <a:ext cx="2926080" cy="13716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3886200"/>
            <a:ext cx="50292" cy="137160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1" y="4032504"/>
            <a:ext cx="260604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Theme</a:t>
            </a:r>
          </a:p>
        </p:txBody>
      </p:sp>
      <p:sp>
        <p:nvSpPr>
          <p:cNvPr id="23" name="TextBox 22"/>
          <p:cNvSpPr txBox="1"/>
          <p:nvPr/>
        </p:nvSpPr>
        <p:spPr>
          <a:xfrm>
            <a:off x="6656831" y="4544568"/>
            <a:ext cx="2606040" cy="640080"/>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Blockchain &amp; Cybersecurity</a:t>
            </a:r>
          </a:p>
        </p:txBody>
      </p:sp>
      <p:sp>
        <p:nvSpPr>
          <p:cNvPr id="24" name="Rounded Rectangle 23"/>
          <p:cNvSpPr/>
          <p:nvPr/>
        </p:nvSpPr>
        <p:spPr>
          <a:xfrm>
            <a:off x="548640" y="5513832"/>
            <a:ext cx="2788920" cy="475488"/>
          </a:xfrm>
          <a:prstGeom prst="roundRect">
            <a:avLst>
              <a:gd name="adj" fmla="val 12000"/>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605272"/>
            <a:ext cx="2606040" cy="274320"/>
          </a:xfrm>
          <a:prstGeom prst="rect">
            <a:avLst/>
          </a:prstGeom>
          <a:noFill/>
        </p:spPr>
        <p:txBody>
          <a:bodyPr wrap="square" lIns="18288" rIns="18288" tIns="0" bIns="0">
            <a:spAutoFit/>
          </a:bodyPr>
          <a:lstStyle/>
          <a:p>
            <a:pPr algn="ctr">
              <a:spcAft>
                <a:spcPts val="200"/>
              </a:spcAft>
              <a:defRPr sz="1700" b="1">
                <a:solidFill>
                  <a:srgbClr val="FFFFFF"/>
                </a:solidFill>
                <a:latin typeface="Calibri"/>
              </a:defRPr>
            </a:pPr>
            <a:r>
              <a:t>OBSERVE</a:t>
            </a:r>
          </a:p>
        </p:txBody>
      </p:sp>
      <p:cxnSp>
        <p:nvCxnSpPr>
          <p:cNvPr id="26" name="Connector 25"/>
          <p:cNvCxnSpPr/>
          <p:nvPr/>
        </p:nvCxnSpPr>
        <p:spPr>
          <a:xfrm>
            <a:off x="3383280" y="5751576"/>
            <a:ext cx="347472"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794759" y="5513832"/>
            <a:ext cx="2788920" cy="475488"/>
          </a:xfrm>
          <a:prstGeom prst="roundRect">
            <a:avLst>
              <a:gd name="adj" fmla="val 12000"/>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86199" y="5605272"/>
            <a:ext cx="2606040" cy="274320"/>
          </a:xfrm>
          <a:prstGeom prst="rect">
            <a:avLst/>
          </a:prstGeom>
          <a:noFill/>
        </p:spPr>
        <p:txBody>
          <a:bodyPr wrap="square" lIns="18288" rIns="18288" tIns="0" bIns="0">
            <a:spAutoFit/>
          </a:bodyPr>
          <a:lstStyle/>
          <a:p>
            <a:pPr algn="ctr">
              <a:spcAft>
                <a:spcPts val="200"/>
              </a:spcAft>
              <a:defRPr sz="1700" b="1">
                <a:solidFill>
                  <a:srgbClr val="FFFFFF"/>
                </a:solidFill>
                <a:latin typeface="Calibri"/>
              </a:defRPr>
            </a:pPr>
            <a:r>
              <a:t>INFER</a:t>
            </a:r>
          </a:p>
        </p:txBody>
      </p:sp>
      <p:cxnSp>
        <p:nvCxnSpPr>
          <p:cNvPr id="29" name="Connector 28"/>
          <p:cNvCxnSpPr/>
          <p:nvPr/>
        </p:nvCxnSpPr>
        <p:spPr>
          <a:xfrm>
            <a:off x="6629400" y="5751576"/>
            <a:ext cx="347471"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040879" y="5513832"/>
            <a:ext cx="2788920" cy="475488"/>
          </a:xfrm>
          <a:prstGeom prst="roundRect">
            <a:avLst>
              <a:gd name="adj" fmla="val 12000"/>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19" y="5605272"/>
            <a:ext cx="2606040" cy="274320"/>
          </a:xfrm>
          <a:prstGeom prst="rect">
            <a:avLst/>
          </a:prstGeom>
          <a:noFill/>
        </p:spPr>
        <p:txBody>
          <a:bodyPr wrap="square" lIns="18288" rIns="18288" tIns="0" bIns="0">
            <a:spAutoFit/>
          </a:bodyPr>
          <a:lstStyle/>
          <a:p>
            <a:pPr algn="ctr">
              <a:spcAft>
                <a:spcPts val="200"/>
              </a:spcAft>
              <a:defRPr sz="1700" b="1">
                <a:solidFill>
                  <a:srgbClr val="FFFFFF"/>
                </a:solidFill>
                <a:latin typeface="Calibri"/>
              </a:defRPr>
            </a:pPr>
            <a:r>
              <a:t>ASSESS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01 / THE PROBLEM</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The bottleneck is interpretation</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Evidence: parser unknown states in server/scapy_analyzer.py; LIMITATIONS.md checked against source.</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02</a:t>
            </a:r>
          </a:p>
        </p:txBody>
      </p:sp>
      <p:sp>
        <p:nvSpPr>
          <p:cNvPr id="10" name="TextBox 9"/>
          <p:cNvSpPr txBox="1"/>
          <p:nvPr/>
        </p:nvSpPr>
        <p:spPr>
          <a:xfrm>
            <a:off x="548640" y="1700784"/>
            <a:ext cx="10881360" cy="548640"/>
          </a:xfrm>
          <a:prstGeom prst="rect">
            <a:avLst/>
          </a:prstGeom>
          <a:noFill/>
        </p:spPr>
        <p:txBody>
          <a:bodyPr wrap="square" lIns="18288" rIns="18288" tIns="0" bIns="0">
            <a:spAutoFit/>
          </a:bodyPr>
          <a:lstStyle/>
          <a:p>
            <a:pPr>
              <a:spcAft>
                <a:spcPts val="200"/>
              </a:spcAft>
              <a:defRPr sz="2300" b="0">
                <a:solidFill>
                  <a:srgbClr val="173D6A"/>
                </a:solidFill>
                <a:latin typeface="Calibri"/>
              </a:defRPr>
            </a:pPr>
            <a:r>
              <a:t>A capture contains evidence. A defensible security judgement needs context.</a:t>
            </a:r>
          </a:p>
        </p:txBody>
      </p:sp>
      <p:sp>
        <p:nvSpPr>
          <p:cNvPr id="11" name="Rounded Rectangle 10"/>
          <p:cNvSpPr/>
          <p:nvPr/>
        </p:nvSpPr>
        <p:spPr>
          <a:xfrm>
            <a:off x="548640" y="2697480"/>
            <a:ext cx="2057400" cy="13990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97480"/>
            <a:ext cx="50292" cy="139903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43784"/>
            <a:ext cx="173736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PCAP</a:t>
            </a:r>
          </a:p>
        </p:txBody>
      </p:sp>
      <p:sp>
        <p:nvSpPr>
          <p:cNvPr id="14" name="TextBox 13"/>
          <p:cNvSpPr txBox="1"/>
          <p:nvPr/>
        </p:nvSpPr>
        <p:spPr>
          <a:xfrm>
            <a:off x="713232" y="3355848"/>
            <a:ext cx="1737360" cy="667512"/>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Raw frames</a:t>
            </a:r>
          </a:p>
        </p:txBody>
      </p:sp>
      <p:cxnSp>
        <p:nvCxnSpPr>
          <p:cNvPr id="15" name="Connector 14"/>
          <p:cNvCxnSpPr/>
          <p:nvPr/>
        </p:nvCxnSpPr>
        <p:spPr>
          <a:xfrm>
            <a:off x="2633472" y="3355848"/>
            <a:ext cx="128016"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98064" y="2697480"/>
            <a:ext cx="2057400" cy="13990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98064" y="2697480"/>
            <a:ext cx="50292" cy="139903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2656" y="2843784"/>
            <a:ext cx="173736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Wireshark</a:t>
            </a:r>
          </a:p>
        </p:txBody>
      </p:sp>
      <p:sp>
        <p:nvSpPr>
          <p:cNvPr id="19" name="TextBox 18"/>
          <p:cNvSpPr txBox="1"/>
          <p:nvPr/>
        </p:nvSpPr>
        <p:spPr>
          <a:xfrm>
            <a:off x="2962656" y="3355848"/>
            <a:ext cx="1737360" cy="667512"/>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Packet inspection</a:t>
            </a:r>
          </a:p>
        </p:txBody>
      </p:sp>
      <p:cxnSp>
        <p:nvCxnSpPr>
          <p:cNvPr id="20" name="Connector 19"/>
          <p:cNvCxnSpPr/>
          <p:nvPr/>
        </p:nvCxnSpPr>
        <p:spPr>
          <a:xfrm>
            <a:off x="4882896" y="3355848"/>
            <a:ext cx="128016"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47488" y="2697480"/>
            <a:ext cx="2057400" cy="13990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47488" y="2697480"/>
            <a:ext cx="50292" cy="139903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79" y="2843784"/>
            <a:ext cx="173736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IKE / ESP</a:t>
            </a:r>
          </a:p>
        </p:txBody>
      </p:sp>
      <p:sp>
        <p:nvSpPr>
          <p:cNvPr id="24" name="TextBox 23"/>
          <p:cNvSpPr txBox="1"/>
          <p:nvPr/>
        </p:nvSpPr>
        <p:spPr>
          <a:xfrm>
            <a:off x="5212079" y="3355848"/>
            <a:ext cx="1737360" cy="667512"/>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Protocol evidence</a:t>
            </a:r>
          </a:p>
        </p:txBody>
      </p:sp>
      <p:cxnSp>
        <p:nvCxnSpPr>
          <p:cNvPr id="25" name="Connector 24"/>
          <p:cNvCxnSpPr/>
          <p:nvPr/>
        </p:nvCxnSpPr>
        <p:spPr>
          <a:xfrm>
            <a:off x="7132319" y="3355848"/>
            <a:ext cx="128017"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296912" y="2697480"/>
            <a:ext cx="2057400" cy="13990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96912" y="2697480"/>
            <a:ext cx="50292" cy="1399032"/>
          </a:xfrm>
          <a:prstGeom prst="rect">
            <a:avLst/>
          </a:prstGeom>
          <a:solidFill>
            <a:srgbClr val="C7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61504" y="2843784"/>
            <a:ext cx="1737360" cy="502920"/>
          </a:xfrm>
          <a:prstGeom prst="rect">
            <a:avLst/>
          </a:prstGeom>
          <a:noFill/>
        </p:spPr>
        <p:txBody>
          <a:bodyPr wrap="square" lIns="18288" rIns="18288" tIns="0" bIns="0">
            <a:spAutoFit/>
          </a:bodyPr>
          <a:lstStyle/>
          <a:p>
            <a:pPr>
              <a:spcAft>
                <a:spcPts val="200"/>
              </a:spcAft>
              <a:defRPr sz="2000" b="1">
                <a:solidFill>
                  <a:srgbClr val="C77823"/>
                </a:solidFill>
                <a:latin typeface="Calibri"/>
              </a:defRPr>
            </a:pPr>
            <a:r>
              <a:t>Expert review</a:t>
            </a:r>
          </a:p>
        </p:txBody>
      </p:sp>
      <p:sp>
        <p:nvSpPr>
          <p:cNvPr id="29" name="TextBox 28"/>
          <p:cNvSpPr txBox="1"/>
          <p:nvPr/>
        </p:nvSpPr>
        <p:spPr>
          <a:xfrm>
            <a:off x="7461504" y="3355848"/>
            <a:ext cx="1737360" cy="667512"/>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Manual interpretation</a:t>
            </a:r>
          </a:p>
        </p:txBody>
      </p:sp>
      <p:cxnSp>
        <p:nvCxnSpPr>
          <p:cNvPr id="30" name="Connector 29"/>
          <p:cNvCxnSpPr/>
          <p:nvPr/>
        </p:nvCxnSpPr>
        <p:spPr>
          <a:xfrm>
            <a:off x="9381744" y="3355848"/>
            <a:ext cx="128015"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546336" y="2697480"/>
            <a:ext cx="2057400" cy="13990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46336" y="2697480"/>
            <a:ext cx="50292" cy="139903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10928" y="2843784"/>
            <a:ext cx="1737360"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Judgement</a:t>
            </a:r>
          </a:p>
        </p:txBody>
      </p:sp>
      <p:sp>
        <p:nvSpPr>
          <p:cNvPr id="34" name="TextBox 33"/>
          <p:cNvSpPr txBox="1"/>
          <p:nvPr/>
        </p:nvSpPr>
        <p:spPr>
          <a:xfrm>
            <a:off x="9710928" y="3355848"/>
            <a:ext cx="1737360" cy="667512"/>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Finding + rationale</a:t>
            </a:r>
          </a:p>
        </p:txBody>
      </p:sp>
      <p:sp>
        <p:nvSpPr>
          <p:cNvPr id="35" name="Rounded Rectangle 34"/>
          <p:cNvSpPr/>
          <p:nvPr/>
        </p:nvSpPr>
        <p:spPr>
          <a:xfrm>
            <a:off x="7296912" y="4325112"/>
            <a:ext cx="2057400" cy="365760"/>
          </a:xfrm>
          <a:prstGeom prst="roundRect">
            <a:avLst>
              <a:gd name="adj" fmla="val 12000"/>
            </a:avLst>
          </a:prstGeom>
          <a:solidFill>
            <a:srgbClr val="FF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0920" y="4398264"/>
            <a:ext cx="1920240" cy="274320"/>
          </a:xfrm>
          <a:prstGeom prst="rect">
            <a:avLst/>
          </a:prstGeom>
          <a:noFill/>
        </p:spPr>
        <p:txBody>
          <a:bodyPr wrap="square" lIns="18288" rIns="18288" tIns="0" bIns="0">
            <a:spAutoFit/>
          </a:bodyPr>
          <a:lstStyle/>
          <a:p>
            <a:pPr algn="ctr">
              <a:spcAft>
                <a:spcPts val="200"/>
              </a:spcAft>
              <a:defRPr sz="1000" b="1">
                <a:solidFill>
                  <a:srgbClr val="C77823"/>
                </a:solidFill>
                <a:latin typeface="Calibri"/>
              </a:defRPr>
            </a:pPr>
            <a:r>
              <a:t>INTERPRETATION BOTTLENECK</a:t>
            </a:r>
          </a:p>
        </p:txBody>
      </p:sp>
      <p:sp>
        <p:nvSpPr>
          <p:cNvPr id="37" name="TextBox 36"/>
          <p:cNvSpPr txBox="1"/>
          <p:nvPr/>
        </p:nvSpPr>
        <p:spPr>
          <a:xfrm>
            <a:off x="594360" y="5010912"/>
            <a:ext cx="3566160" cy="365760"/>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Visible IKE transforms</a:t>
            </a:r>
          </a:p>
        </p:txBody>
      </p:sp>
      <p:sp>
        <p:nvSpPr>
          <p:cNvPr id="38" name="TextBox 37"/>
          <p:cNvSpPr txBox="1"/>
          <p:nvPr/>
        </p:nvSpPr>
        <p:spPr>
          <a:xfrm>
            <a:off x="4389120" y="5010912"/>
            <a:ext cx="3840480" cy="365760"/>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Encrypted Child-SA details</a:t>
            </a:r>
          </a:p>
        </p:txBody>
      </p:sp>
      <p:sp>
        <p:nvSpPr>
          <p:cNvPr id="39" name="TextBox 38"/>
          <p:cNvSpPr txBox="1"/>
          <p:nvPr/>
        </p:nvSpPr>
        <p:spPr>
          <a:xfrm>
            <a:off x="8375904" y="5010912"/>
            <a:ext cx="3474720" cy="365760"/>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Incomplete captures</a:t>
            </a:r>
          </a:p>
        </p:txBody>
      </p:sp>
      <p:sp>
        <p:nvSpPr>
          <p:cNvPr id="40" name="Rounded Rectangle 39"/>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Missing evidence must remain unknown; ESP ciphertext cannot be read as application plaintext.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02 / OUR SOLUTION</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One workflow, three explicit kinds of evidence</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src/App.tsx; src/utils/securityAuditor.ts; backend/app/ml_inference.py; backend/app/ml_assessment.py.</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03</a:t>
            </a:r>
          </a:p>
        </p:txBody>
      </p:sp>
      <p:sp>
        <p:nvSpPr>
          <p:cNvPr id="10" name="TextBox 9"/>
          <p:cNvSpPr txBox="1"/>
          <p:nvPr/>
        </p:nvSpPr>
        <p:spPr>
          <a:xfrm>
            <a:off x="566928" y="1810512"/>
            <a:ext cx="1828800" cy="365760"/>
          </a:xfrm>
          <a:prstGeom prst="rect">
            <a:avLst/>
          </a:prstGeom>
          <a:noFill/>
        </p:spPr>
        <p:txBody>
          <a:bodyPr wrap="square" lIns="18288" rIns="18288" tIns="0" bIns="0">
            <a:spAutoFit/>
          </a:bodyPr>
          <a:lstStyle/>
          <a:p>
            <a:pPr>
              <a:spcAft>
                <a:spcPts val="200"/>
              </a:spcAft>
              <a:defRPr sz="2000" b="1">
                <a:solidFill>
                  <a:srgbClr val="526778"/>
                </a:solidFill>
                <a:latin typeface="Calibri"/>
              </a:defRPr>
            </a:pPr>
            <a:r>
              <a:t>Traditional</a:t>
            </a:r>
          </a:p>
        </p:txBody>
      </p:sp>
      <p:sp>
        <p:nvSpPr>
          <p:cNvPr id="11" name="TextBox 10"/>
          <p:cNvSpPr txBox="1"/>
          <p:nvPr/>
        </p:nvSpPr>
        <p:spPr>
          <a:xfrm>
            <a:off x="2743200" y="1801368"/>
            <a:ext cx="8229600" cy="457200"/>
          </a:xfrm>
          <a:prstGeom prst="rect">
            <a:avLst/>
          </a:prstGeom>
          <a:noFill/>
        </p:spPr>
        <p:txBody>
          <a:bodyPr wrap="square" lIns="18288" rIns="18288" tIns="0" bIns="0">
            <a:spAutoFit/>
          </a:bodyPr>
          <a:lstStyle/>
          <a:p>
            <a:pPr>
              <a:spcAft>
                <a:spcPts val="200"/>
              </a:spcAft>
              <a:defRPr sz="2300" b="0">
                <a:solidFill>
                  <a:srgbClr val="526778"/>
                </a:solidFill>
                <a:latin typeface="Calibri"/>
              </a:defRPr>
            </a:pPr>
            <a:r>
              <a:t>PCAP   →   Expert   →   Manual analysis</a:t>
            </a:r>
          </a:p>
        </p:txBody>
      </p:sp>
      <p:sp>
        <p:nvSpPr>
          <p:cNvPr id="12" name="TextBox 11"/>
          <p:cNvSpPr txBox="1"/>
          <p:nvPr/>
        </p:nvSpPr>
        <p:spPr>
          <a:xfrm>
            <a:off x="566928" y="2542032"/>
            <a:ext cx="2743200" cy="365760"/>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IPsec Sentinel</a:t>
            </a:r>
          </a:p>
        </p:txBody>
      </p:sp>
      <p:sp>
        <p:nvSpPr>
          <p:cNvPr id="13" name="Rounded Rectangle 12"/>
          <p:cNvSpPr/>
          <p:nvPr/>
        </p:nvSpPr>
        <p:spPr>
          <a:xfrm>
            <a:off x="548640" y="3136392"/>
            <a:ext cx="3465576" cy="172821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50292" cy="1728216"/>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282696"/>
            <a:ext cx="3145536" cy="502920"/>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Protocol parsing</a:t>
            </a:r>
          </a:p>
        </p:txBody>
      </p:sp>
      <p:sp>
        <p:nvSpPr>
          <p:cNvPr id="16" name="TextBox 15"/>
          <p:cNvSpPr txBox="1"/>
          <p:nvPr/>
        </p:nvSpPr>
        <p:spPr>
          <a:xfrm>
            <a:off x="713232" y="3794760"/>
            <a:ext cx="3145536" cy="996695"/>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Decode visible IKE fields</a:t>
            </a:r>
          </a:p>
          <a:p>
            <a:pPr>
              <a:spcAft>
                <a:spcPts val="200"/>
              </a:spcAft>
              <a:defRPr sz="2000" b="0">
                <a:solidFill>
                  <a:srgbClr val="22384B"/>
                </a:solidFill>
                <a:latin typeface="Calibri"/>
              </a:defRPr>
            </a:pPr>
            <a:r>
              <a:t>and ESP headers.</a:t>
            </a:r>
          </a:p>
        </p:txBody>
      </p:sp>
      <p:sp>
        <p:nvSpPr>
          <p:cNvPr id="17" name="Rounded Rectangle 16"/>
          <p:cNvSpPr/>
          <p:nvPr/>
        </p:nvSpPr>
        <p:spPr>
          <a:xfrm>
            <a:off x="4361688" y="3136392"/>
            <a:ext cx="3465576" cy="172821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61688" y="3136392"/>
            <a:ext cx="50292" cy="1728216"/>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79" y="3282696"/>
            <a:ext cx="3145536" cy="502920"/>
          </a:xfrm>
          <a:prstGeom prst="rect">
            <a:avLst/>
          </a:prstGeom>
          <a:noFill/>
        </p:spPr>
        <p:txBody>
          <a:bodyPr wrap="square" lIns="18288" rIns="18288" tIns="0" bIns="0">
            <a:spAutoFit/>
          </a:bodyPr>
          <a:lstStyle/>
          <a:p>
            <a:pPr>
              <a:spcAft>
                <a:spcPts val="200"/>
              </a:spcAft>
              <a:defRPr sz="2100" b="1">
                <a:solidFill>
                  <a:srgbClr val="0072BC"/>
                </a:solidFill>
                <a:latin typeface="Calibri"/>
              </a:defRPr>
            </a:pPr>
            <a:r>
              <a:t>ML inference</a:t>
            </a:r>
          </a:p>
        </p:txBody>
      </p:sp>
      <p:sp>
        <p:nvSpPr>
          <p:cNvPr id="20" name="TextBox 19"/>
          <p:cNvSpPr txBox="1"/>
          <p:nvPr/>
        </p:nvSpPr>
        <p:spPr>
          <a:xfrm>
            <a:off x="4526279" y="3794760"/>
            <a:ext cx="3145536" cy="996695"/>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Estimate four crypto labels</a:t>
            </a:r>
          </a:p>
          <a:p>
            <a:pPr>
              <a:spcAft>
                <a:spcPts val="200"/>
              </a:spcAft>
              <a:defRPr sz="2000" b="0">
                <a:solidFill>
                  <a:srgbClr val="22384B"/>
                </a:solidFill>
                <a:latin typeface="Calibri"/>
              </a:defRPr>
            </a:pPr>
            <a:r>
              <a:t>from capture features.</a:t>
            </a:r>
          </a:p>
        </p:txBody>
      </p:sp>
      <p:sp>
        <p:nvSpPr>
          <p:cNvPr id="21" name="Rounded Rectangle 20"/>
          <p:cNvSpPr/>
          <p:nvPr/>
        </p:nvSpPr>
        <p:spPr>
          <a:xfrm>
            <a:off x="8174736" y="3136392"/>
            <a:ext cx="3465576" cy="172821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3136392"/>
            <a:ext cx="50292" cy="1728216"/>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3282696"/>
            <a:ext cx="3145536" cy="502920"/>
          </a:xfrm>
          <a:prstGeom prst="rect">
            <a:avLst/>
          </a:prstGeom>
          <a:noFill/>
        </p:spPr>
        <p:txBody>
          <a:bodyPr wrap="square" lIns="18288" rIns="18288" tIns="0" bIns="0">
            <a:spAutoFit/>
          </a:bodyPr>
          <a:lstStyle/>
          <a:p>
            <a:pPr>
              <a:spcAft>
                <a:spcPts val="200"/>
              </a:spcAft>
              <a:defRPr sz="2100" b="1">
                <a:solidFill>
                  <a:srgbClr val="45ADC4"/>
                </a:solidFill>
                <a:latin typeface="Calibri"/>
              </a:defRPr>
            </a:pPr>
            <a:r>
              <a:t>Security rules</a:t>
            </a:r>
          </a:p>
        </p:txBody>
      </p:sp>
      <p:sp>
        <p:nvSpPr>
          <p:cNvPr id="24" name="TextBox 23"/>
          <p:cNvSpPr txBox="1"/>
          <p:nvPr/>
        </p:nvSpPr>
        <p:spPr>
          <a:xfrm>
            <a:off x="8339327" y="3794760"/>
            <a:ext cx="3145536" cy="996695"/>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Apply explicit checks;</a:t>
            </a:r>
          </a:p>
          <a:p>
            <a:pPr>
              <a:spcAft>
                <a:spcPts val="200"/>
              </a:spcAft>
              <a:defRPr sz="2000" b="0">
                <a:solidFill>
                  <a:srgbClr val="22384B"/>
                </a:solidFill>
                <a:latin typeface="Calibri"/>
              </a:defRPr>
            </a:pPr>
            <a:r>
              <a:t>retain source and severity.</a:t>
            </a:r>
          </a:p>
        </p:txBody>
      </p:sp>
      <p:sp>
        <p:nvSpPr>
          <p:cNvPr id="25" name="TextBox 24"/>
          <p:cNvSpPr txBox="1"/>
          <p:nvPr/>
        </p:nvSpPr>
        <p:spPr>
          <a:xfrm>
            <a:off x="713232" y="5175504"/>
            <a:ext cx="3383280" cy="310896"/>
          </a:xfrm>
          <a:prstGeom prst="rect">
            <a:avLst/>
          </a:prstGeom>
          <a:noFill/>
        </p:spPr>
        <p:txBody>
          <a:bodyPr wrap="square" lIns="18288" rIns="18288" tIns="0" bIns="0">
            <a:spAutoFit/>
          </a:bodyPr>
          <a:lstStyle/>
          <a:p>
            <a:pPr>
              <a:spcAft>
                <a:spcPts val="200"/>
              </a:spcAft>
              <a:defRPr sz="1300" b="1">
                <a:solidFill>
                  <a:srgbClr val="173D6A"/>
                </a:solidFill>
                <a:latin typeface="Calibri"/>
              </a:defRPr>
            </a:pPr>
            <a:r>
              <a:t>OBSERVED</a:t>
            </a:r>
          </a:p>
        </p:txBody>
      </p:sp>
      <p:sp>
        <p:nvSpPr>
          <p:cNvPr id="26" name="TextBox 25"/>
          <p:cNvSpPr txBox="1"/>
          <p:nvPr/>
        </p:nvSpPr>
        <p:spPr>
          <a:xfrm>
            <a:off x="4526280" y="5175504"/>
            <a:ext cx="3383280" cy="310896"/>
          </a:xfrm>
          <a:prstGeom prst="rect">
            <a:avLst/>
          </a:prstGeom>
          <a:noFill/>
        </p:spPr>
        <p:txBody>
          <a:bodyPr wrap="square" lIns="18288" rIns="18288" tIns="0" bIns="0">
            <a:spAutoFit/>
          </a:bodyPr>
          <a:lstStyle/>
          <a:p>
            <a:pPr>
              <a:spcAft>
                <a:spcPts val="200"/>
              </a:spcAft>
              <a:defRPr sz="1300" b="1">
                <a:solidFill>
                  <a:srgbClr val="0072BC"/>
                </a:solidFill>
                <a:latin typeface="Calibri"/>
              </a:defRPr>
            </a:pPr>
            <a:r>
              <a:t>ML_INFERRED</a:t>
            </a:r>
          </a:p>
        </p:txBody>
      </p:sp>
      <p:sp>
        <p:nvSpPr>
          <p:cNvPr id="27" name="TextBox 26"/>
          <p:cNvSpPr txBox="1"/>
          <p:nvPr/>
        </p:nvSpPr>
        <p:spPr>
          <a:xfrm>
            <a:off x="8339327" y="5175504"/>
            <a:ext cx="3383280" cy="310896"/>
          </a:xfrm>
          <a:prstGeom prst="rect">
            <a:avLst/>
          </a:prstGeom>
          <a:noFill/>
        </p:spPr>
        <p:txBody>
          <a:bodyPr wrap="square" lIns="18288" rIns="18288" tIns="0" bIns="0">
            <a:spAutoFit/>
          </a:bodyPr>
          <a:lstStyle/>
          <a:p>
            <a:pPr>
              <a:spcAft>
                <a:spcPts val="200"/>
              </a:spcAft>
              <a:defRPr sz="1300" b="1">
                <a:solidFill>
                  <a:srgbClr val="45ADC4"/>
                </a:solidFill>
                <a:latin typeface="Calibri"/>
              </a:defRPr>
            </a:pPr>
            <a:r>
              <a:t>RULE-BASED FINDING</a:t>
            </a:r>
          </a:p>
        </p:txBody>
      </p:sp>
      <p:sp>
        <p:nvSpPr>
          <p:cNvPr id="28" name="Rounded Rectangle 27"/>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Analyst review remains essential for uncertain predictions, missing evidence, and security interpretation.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03 / SYSTEM ARCHITECTURE</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Two analysis lanes, one dashboard</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src/utils/scapyClient.ts; server/scapy_analyzer.py; backend/app/{feature_extraction,ml_inference,ml_assessment}.py.</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04</a:t>
            </a:r>
          </a:p>
        </p:txBody>
      </p:sp>
      <p:sp>
        <p:nvSpPr>
          <p:cNvPr id="10" name="Rounded Rectangle 9"/>
          <p:cNvSpPr/>
          <p:nvPr/>
        </p:nvSpPr>
        <p:spPr>
          <a:xfrm>
            <a:off x="548640" y="1847088"/>
            <a:ext cx="3291840" cy="11155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47088"/>
            <a:ext cx="50292" cy="111556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993392"/>
            <a:ext cx="2971800" cy="502920"/>
          </a:xfrm>
          <a:prstGeom prst="rect">
            <a:avLst/>
          </a:prstGeom>
          <a:noFill/>
        </p:spPr>
        <p:txBody>
          <a:bodyPr wrap="square" lIns="18288" rIns="18288" tIns="0" bIns="0">
            <a:spAutoFit/>
          </a:bodyPr>
          <a:lstStyle/>
          <a:p>
            <a:pPr>
              <a:spcAft>
                <a:spcPts val="200"/>
              </a:spcAft>
              <a:defRPr sz="2100" b="1">
                <a:solidFill>
                  <a:srgbClr val="0072BC"/>
                </a:solidFill>
                <a:latin typeface="Calibri"/>
              </a:defRPr>
            </a:pPr>
            <a:r>
              <a:t>PCAP / PCAPNG</a:t>
            </a:r>
          </a:p>
        </p:txBody>
      </p:sp>
      <p:sp>
        <p:nvSpPr>
          <p:cNvPr id="13" name="TextBox 12"/>
          <p:cNvSpPr txBox="1"/>
          <p:nvPr/>
        </p:nvSpPr>
        <p:spPr>
          <a:xfrm>
            <a:off x="713232" y="2505456"/>
            <a:ext cx="2971800" cy="384047"/>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Factory capture or analyst upload</a:t>
            </a:r>
          </a:p>
        </p:txBody>
      </p:sp>
      <p:cxnSp>
        <p:nvCxnSpPr>
          <p:cNvPr id="14" name="Connector 13"/>
          <p:cNvCxnSpPr/>
          <p:nvPr/>
        </p:nvCxnSpPr>
        <p:spPr>
          <a:xfrm>
            <a:off x="3886200" y="2404872"/>
            <a:ext cx="365760"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7680" y="1847088"/>
            <a:ext cx="3246120" cy="11155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847088"/>
            <a:ext cx="50292" cy="1115568"/>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2272" y="1993392"/>
            <a:ext cx="2926079" cy="502920"/>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Local Scapy service</a:t>
            </a:r>
          </a:p>
        </p:txBody>
      </p:sp>
      <p:sp>
        <p:nvSpPr>
          <p:cNvPr id="18" name="TextBox 17"/>
          <p:cNvSpPr txBox="1"/>
          <p:nvPr/>
        </p:nvSpPr>
        <p:spPr>
          <a:xfrm>
            <a:off x="4462272" y="2505456"/>
            <a:ext cx="2926079" cy="384047"/>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POST :8765/analyze</a:t>
            </a:r>
          </a:p>
        </p:txBody>
      </p:sp>
      <p:cxnSp>
        <p:nvCxnSpPr>
          <p:cNvPr id="19" name="Connector 18"/>
          <p:cNvCxnSpPr/>
          <p:nvPr/>
        </p:nvCxnSpPr>
        <p:spPr>
          <a:xfrm>
            <a:off x="7589520" y="2404872"/>
            <a:ext cx="384048"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28431" y="1847088"/>
            <a:ext cx="3611880" cy="11155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28431" y="1847088"/>
            <a:ext cx="50292" cy="111556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3" y="1993392"/>
            <a:ext cx="3291840" cy="502920"/>
          </a:xfrm>
          <a:prstGeom prst="rect">
            <a:avLst/>
          </a:prstGeom>
          <a:noFill/>
        </p:spPr>
        <p:txBody>
          <a:bodyPr wrap="square" lIns="18288" rIns="18288" tIns="0" bIns="0">
            <a:spAutoFit/>
          </a:bodyPr>
          <a:lstStyle/>
          <a:p>
            <a:pPr>
              <a:spcAft>
                <a:spcPts val="200"/>
              </a:spcAft>
              <a:defRPr sz="2100" b="1">
                <a:solidFill>
                  <a:srgbClr val="0072BC"/>
                </a:solidFill>
                <a:latin typeface="Calibri"/>
              </a:defRPr>
            </a:pPr>
            <a:r>
              <a:t>React dashboard</a:t>
            </a:r>
          </a:p>
        </p:txBody>
      </p:sp>
      <p:sp>
        <p:nvSpPr>
          <p:cNvPr id="23" name="TextBox 22"/>
          <p:cNvSpPr txBox="1"/>
          <p:nvPr/>
        </p:nvSpPr>
        <p:spPr>
          <a:xfrm>
            <a:off x="8193023" y="2505456"/>
            <a:ext cx="3291840" cy="384047"/>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App.tsx · reports · evidence</a:t>
            </a:r>
          </a:p>
        </p:txBody>
      </p:sp>
      <p:sp>
        <p:nvSpPr>
          <p:cNvPr id="24" name="Rounded Rectangle 23"/>
          <p:cNvSpPr/>
          <p:nvPr/>
        </p:nvSpPr>
        <p:spPr>
          <a:xfrm>
            <a:off x="548640" y="3611880"/>
            <a:ext cx="5166360" cy="141732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11880"/>
            <a:ext cx="50292" cy="1417320"/>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58184"/>
            <a:ext cx="4846320" cy="502920"/>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A  /  Packet observations</a:t>
            </a:r>
          </a:p>
        </p:txBody>
      </p:sp>
      <p:sp>
        <p:nvSpPr>
          <p:cNvPr id="27" name="TextBox 26"/>
          <p:cNvSpPr txBox="1"/>
          <p:nvPr/>
        </p:nvSpPr>
        <p:spPr>
          <a:xfrm>
            <a:off x="713232" y="4270248"/>
            <a:ext cx="4846320" cy="685800"/>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IKE proposals + ESP metadata</a:t>
            </a:r>
          </a:p>
          <a:p>
            <a:pPr>
              <a:spcAft>
                <a:spcPts val="200"/>
              </a:spcAft>
              <a:defRPr sz="2000" b="0">
                <a:solidFill>
                  <a:srgbClr val="22384B"/>
                </a:solidFill>
                <a:latin typeface="Calibri"/>
              </a:defRPr>
            </a:pPr>
            <a:r>
              <a:t>→ securityAuditor.ts rules</a:t>
            </a:r>
          </a:p>
        </p:txBody>
      </p:sp>
      <p:sp>
        <p:nvSpPr>
          <p:cNvPr id="28" name="Rounded Rectangle 27"/>
          <p:cNvSpPr/>
          <p:nvPr/>
        </p:nvSpPr>
        <p:spPr>
          <a:xfrm>
            <a:off x="6172200" y="3611880"/>
            <a:ext cx="5468112" cy="141732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3611880"/>
            <a:ext cx="50292" cy="1417320"/>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2" y="3758184"/>
            <a:ext cx="5148072" cy="502920"/>
          </a:xfrm>
          <a:prstGeom prst="rect">
            <a:avLst/>
          </a:prstGeom>
          <a:noFill/>
        </p:spPr>
        <p:txBody>
          <a:bodyPr wrap="square" lIns="18288" rIns="18288" tIns="0" bIns="0">
            <a:spAutoFit/>
          </a:bodyPr>
          <a:lstStyle/>
          <a:p>
            <a:pPr>
              <a:spcAft>
                <a:spcPts val="200"/>
              </a:spcAft>
              <a:defRPr sz="2100" b="1">
                <a:solidFill>
                  <a:srgbClr val="45ADC4"/>
                </a:solidFill>
                <a:latin typeface="Calibri"/>
              </a:defRPr>
            </a:pPr>
            <a:r>
              <a:t>B  /  Model estimates</a:t>
            </a:r>
          </a:p>
        </p:txBody>
      </p:sp>
      <p:sp>
        <p:nvSpPr>
          <p:cNvPr id="31" name="TextBox 30"/>
          <p:cNvSpPr txBox="1"/>
          <p:nvPr/>
        </p:nvSpPr>
        <p:spPr>
          <a:xfrm>
            <a:off x="6336792" y="4270248"/>
            <a:ext cx="5148072" cy="685800"/>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extractor.py → 18 features → 4 RF models</a:t>
            </a:r>
          </a:p>
          <a:p>
            <a:pPr>
              <a:spcAft>
                <a:spcPts val="200"/>
              </a:spcAft>
              <a:defRPr sz="1900" b="0">
                <a:solidFill>
                  <a:srgbClr val="22384B"/>
                </a:solidFill>
                <a:latin typeface="Calibri"/>
              </a:defRPr>
            </a:pPr>
            <a:r>
              <a:t>→ ml_assessment.py advisory findings</a:t>
            </a:r>
          </a:p>
        </p:txBody>
      </p:sp>
      <p:cxnSp>
        <p:nvCxnSpPr>
          <p:cNvPr id="32" name="Connector 31"/>
          <p:cNvCxnSpPr/>
          <p:nvPr/>
        </p:nvCxnSpPr>
        <p:spPr>
          <a:xfrm flipH="1">
            <a:off x="3108960" y="2990088"/>
            <a:ext cx="2743200" cy="557784"/>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35040" y="2990088"/>
            <a:ext cx="2834640" cy="557784"/>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5303520"/>
            <a:ext cx="5394960" cy="347472"/>
          </a:xfrm>
          <a:prstGeom prst="rect">
            <a:avLst/>
          </a:prstGeom>
          <a:noFill/>
        </p:spPr>
        <p:txBody>
          <a:bodyPr wrap="square" lIns="18288" rIns="18288" tIns="0" bIns="0">
            <a:spAutoFit/>
          </a:bodyPr>
          <a:lstStyle/>
          <a:p>
            <a:pPr>
              <a:spcAft>
                <a:spcPts val="200"/>
              </a:spcAft>
              <a:defRPr sz="1800" b="0">
                <a:solidFill>
                  <a:srgbClr val="526778"/>
                </a:solidFill>
                <a:latin typeface="Calibri"/>
              </a:defRPr>
            </a:pPr>
            <a:r>
              <a:t>Browser fallback: pcapParser.ts</a:t>
            </a:r>
          </a:p>
        </p:txBody>
      </p:sp>
      <p:sp>
        <p:nvSpPr>
          <p:cNvPr id="35" name="TextBox 34"/>
          <p:cNvSpPr txBox="1"/>
          <p:nvPr/>
        </p:nvSpPr>
        <p:spPr>
          <a:xfrm>
            <a:off x="6190488" y="5303520"/>
            <a:ext cx="5486400" cy="347472"/>
          </a:xfrm>
          <a:prstGeom prst="rect">
            <a:avLst/>
          </a:prstGeom>
          <a:noFill/>
        </p:spPr>
        <p:txBody>
          <a:bodyPr wrap="square" lIns="18288" rIns="18288" tIns="0" bIns="0">
            <a:spAutoFit/>
          </a:bodyPr>
          <a:lstStyle/>
          <a:p>
            <a:pPr>
              <a:spcAft>
                <a:spcPts val="200"/>
              </a:spcAft>
              <a:defRPr sz="1700" b="0">
                <a:solidFill>
                  <a:srgbClr val="526778"/>
                </a:solidFill>
                <a:latin typeface="Calibri"/>
              </a:defRPr>
            </a:pPr>
            <a:r>
              <a:t>Optional :8770 API → SQLite + gateway correlation</a:t>
            </a:r>
          </a:p>
        </p:txBody>
      </p:sp>
      <p:sp>
        <p:nvSpPr>
          <p:cNvPr id="36" name="Rounded Rectangle 35"/>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Separate FastAPI interface: /api/ml-analyze. The dashboard’s default upload path is the Scapy service.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04 / PCAP FACTORY</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Ground truth begins in a controlled VPN lab</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pcap_factory/{factory.py,experiments.json,metadata/}; feature_extractor/dataset.csv; evidence/dataset_audit.json.</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05</a:t>
            </a:r>
          </a:p>
        </p:txBody>
      </p:sp>
      <p:sp>
        <p:nvSpPr>
          <p:cNvPr id="10" name="Rounded Rectangle 9"/>
          <p:cNvSpPr/>
          <p:nvPr/>
        </p:nvSpPr>
        <p:spPr>
          <a:xfrm>
            <a:off x="548640" y="1783080"/>
            <a:ext cx="3465576" cy="98755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83664"/>
            <a:ext cx="3108960" cy="457200"/>
          </a:xfrm>
          <a:prstGeom prst="rect">
            <a:avLst/>
          </a:prstGeom>
          <a:noFill/>
        </p:spPr>
        <p:txBody>
          <a:bodyPr wrap="square" lIns="18288" rIns="18288" tIns="0" bIns="0">
            <a:spAutoFit/>
          </a:bodyPr>
          <a:lstStyle/>
          <a:p>
            <a:pPr>
              <a:spcAft>
                <a:spcPts val="200"/>
              </a:spcAft>
              <a:defRPr sz="3100" b="1">
                <a:solidFill>
                  <a:srgbClr val="0072BC"/>
                </a:solidFill>
                <a:latin typeface="Calibri"/>
              </a:defRPr>
            </a:pPr>
            <a:r>
              <a:t>157</a:t>
            </a:r>
          </a:p>
        </p:txBody>
      </p:sp>
      <p:sp>
        <p:nvSpPr>
          <p:cNvPr id="12" name="TextBox 11"/>
          <p:cNvSpPr txBox="1"/>
          <p:nvPr/>
        </p:nvSpPr>
        <p:spPr>
          <a:xfrm>
            <a:off x="731520" y="2404872"/>
            <a:ext cx="3108960" cy="256032"/>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successful captures</a:t>
            </a:r>
          </a:p>
        </p:txBody>
      </p:sp>
      <p:sp>
        <p:nvSpPr>
          <p:cNvPr id="13" name="Rounded Rectangle 12"/>
          <p:cNvSpPr/>
          <p:nvPr/>
        </p:nvSpPr>
        <p:spPr>
          <a:xfrm>
            <a:off x="4361688" y="1783080"/>
            <a:ext cx="3465576" cy="98755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883664"/>
            <a:ext cx="3108960" cy="457200"/>
          </a:xfrm>
          <a:prstGeom prst="rect">
            <a:avLst/>
          </a:prstGeom>
          <a:noFill/>
        </p:spPr>
        <p:txBody>
          <a:bodyPr wrap="square" lIns="18288" rIns="18288" tIns="0" bIns="0">
            <a:spAutoFit/>
          </a:bodyPr>
          <a:lstStyle/>
          <a:p>
            <a:pPr>
              <a:spcAft>
                <a:spcPts val="200"/>
              </a:spcAft>
              <a:defRPr sz="3100" b="1">
                <a:solidFill>
                  <a:srgbClr val="0072BC"/>
                </a:solidFill>
                <a:latin typeface="Calibri"/>
              </a:defRPr>
            </a:pPr>
            <a:r>
              <a:t>24</a:t>
            </a:r>
          </a:p>
        </p:txBody>
      </p:sp>
      <p:sp>
        <p:nvSpPr>
          <p:cNvPr id="15" name="TextBox 14"/>
          <p:cNvSpPr txBox="1"/>
          <p:nvPr/>
        </p:nvSpPr>
        <p:spPr>
          <a:xfrm>
            <a:off x="4544568" y="2404872"/>
            <a:ext cx="3108960" cy="256032"/>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crypto combinations</a:t>
            </a:r>
          </a:p>
        </p:txBody>
      </p:sp>
      <p:sp>
        <p:nvSpPr>
          <p:cNvPr id="16" name="Rounded Rectangle 15"/>
          <p:cNvSpPr/>
          <p:nvPr/>
        </p:nvSpPr>
        <p:spPr>
          <a:xfrm>
            <a:off x="8174736" y="1783080"/>
            <a:ext cx="3465576" cy="98755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5" y="1883664"/>
            <a:ext cx="3108960" cy="457200"/>
          </a:xfrm>
          <a:prstGeom prst="rect">
            <a:avLst/>
          </a:prstGeom>
          <a:noFill/>
        </p:spPr>
        <p:txBody>
          <a:bodyPr wrap="square" lIns="18288" rIns="18288" tIns="0" bIns="0">
            <a:spAutoFit/>
          </a:bodyPr>
          <a:lstStyle/>
          <a:p>
            <a:pPr>
              <a:spcAft>
                <a:spcPts val="200"/>
              </a:spcAft>
              <a:defRPr sz="3100" b="1">
                <a:solidFill>
                  <a:srgbClr val="0072BC"/>
                </a:solidFill>
                <a:latin typeface="Calibri"/>
              </a:defRPr>
            </a:pPr>
            <a:r>
              <a:t>113 / 44</a:t>
            </a:r>
          </a:p>
        </p:txBody>
      </p:sp>
      <p:sp>
        <p:nvSpPr>
          <p:cNvPr id="18" name="TextBox 17"/>
          <p:cNvSpPr txBox="1"/>
          <p:nvPr/>
        </p:nvSpPr>
        <p:spPr>
          <a:xfrm>
            <a:off x="8357615" y="2404872"/>
            <a:ext cx="3108960" cy="256032"/>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ICMP / TCP captures</a:t>
            </a:r>
          </a:p>
        </p:txBody>
      </p:sp>
      <p:sp>
        <p:nvSpPr>
          <p:cNvPr id="19" name="Rounded Rectangle 18"/>
          <p:cNvSpPr/>
          <p:nvPr/>
        </p:nvSpPr>
        <p:spPr>
          <a:xfrm>
            <a:off x="548640" y="3246120"/>
            <a:ext cx="2057400" cy="132588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246120"/>
            <a:ext cx="50292" cy="132588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392424"/>
            <a:ext cx="1737360" cy="502920"/>
          </a:xfrm>
          <a:prstGeom prst="rect">
            <a:avLst/>
          </a:prstGeom>
          <a:noFill/>
        </p:spPr>
        <p:txBody>
          <a:bodyPr wrap="square" lIns="18288" rIns="18288" tIns="0" bIns="0">
            <a:spAutoFit/>
          </a:bodyPr>
          <a:lstStyle/>
          <a:p>
            <a:pPr>
              <a:spcAft>
                <a:spcPts val="200"/>
              </a:spcAft>
              <a:defRPr sz="1800" b="1">
                <a:solidFill>
                  <a:srgbClr val="0072BC"/>
                </a:solidFill>
                <a:latin typeface="Calibri"/>
              </a:defRPr>
            </a:pPr>
            <a:r>
              <a:t>Define</a:t>
            </a:r>
          </a:p>
        </p:txBody>
      </p:sp>
      <p:sp>
        <p:nvSpPr>
          <p:cNvPr id="22" name="TextBox 21"/>
          <p:cNvSpPr txBox="1"/>
          <p:nvPr/>
        </p:nvSpPr>
        <p:spPr>
          <a:xfrm>
            <a:off x="713232" y="3904487"/>
            <a:ext cx="1737360" cy="594359"/>
          </a:xfrm>
          <a:prstGeom prst="rect">
            <a:avLst/>
          </a:prstGeom>
          <a:noFill/>
        </p:spPr>
        <p:txBody>
          <a:bodyPr wrap="square" lIns="18288" rIns="18288" tIns="0" bIns="0">
            <a:spAutoFit/>
          </a:bodyPr>
          <a:lstStyle/>
          <a:p>
            <a:pPr>
              <a:spcAft>
                <a:spcPts val="200"/>
              </a:spcAft>
              <a:defRPr sz="1550" b="0">
                <a:solidFill>
                  <a:srgbClr val="22384B"/>
                </a:solidFill>
                <a:latin typeface="Calibri"/>
              </a:defRPr>
            </a:pPr>
            <a:r>
              <a:t>experiments.json</a:t>
            </a:r>
          </a:p>
        </p:txBody>
      </p:sp>
      <p:cxnSp>
        <p:nvCxnSpPr>
          <p:cNvPr id="23" name="Connector 22"/>
          <p:cNvCxnSpPr/>
          <p:nvPr/>
        </p:nvCxnSpPr>
        <p:spPr>
          <a:xfrm>
            <a:off x="2633472" y="3904487"/>
            <a:ext cx="128016"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798064" y="3246120"/>
            <a:ext cx="2057400" cy="132588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98064" y="3246120"/>
            <a:ext cx="50292" cy="132588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62656" y="3392424"/>
            <a:ext cx="1737360" cy="502920"/>
          </a:xfrm>
          <a:prstGeom prst="rect">
            <a:avLst/>
          </a:prstGeom>
          <a:noFill/>
        </p:spPr>
        <p:txBody>
          <a:bodyPr wrap="square" lIns="18288" rIns="18288" tIns="0" bIns="0">
            <a:spAutoFit/>
          </a:bodyPr>
          <a:lstStyle/>
          <a:p>
            <a:pPr>
              <a:spcAft>
                <a:spcPts val="200"/>
              </a:spcAft>
              <a:defRPr sz="1800" b="1">
                <a:solidFill>
                  <a:srgbClr val="0072BC"/>
                </a:solidFill>
                <a:latin typeface="Calibri"/>
              </a:defRPr>
            </a:pPr>
            <a:r>
              <a:t>Configure</a:t>
            </a:r>
          </a:p>
        </p:txBody>
      </p:sp>
      <p:sp>
        <p:nvSpPr>
          <p:cNvPr id="27" name="TextBox 26"/>
          <p:cNvSpPr txBox="1"/>
          <p:nvPr/>
        </p:nvSpPr>
        <p:spPr>
          <a:xfrm>
            <a:off x="2962656" y="3904487"/>
            <a:ext cx="1737360" cy="594359"/>
          </a:xfrm>
          <a:prstGeom prst="rect">
            <a:avLst/>
          </a:prstGeom>
          <a:noFill/>
        </p:spPr>
        <p:txBody>
          <a:bodyPr wrap="square" lIns="18288" rIns="18288" tIns="0" bIns="0">
            <a:spAutoFit/>
          </a:bodyPr>
          <a:lstStyle/>
          <a:p>
            <a:pPr>
              <a:spcAft>
                <a:spcPts val="200"/>
              </a:spcAft>
              <a:defRPr sz="1550" b="0">
                <a:solidFill>
                  <a:srgbClr val="22384B"/>
                </a:solidFill>
                <a:latin typeface="Calibri"/>
              </a:defRPr>
            </a:pPr>
            <a:r>
              <a:t>2 strongSwan peers</a:t>
            </a:r>
          </a:p>
        </p:txBody>
      </p:sp>
      <p:cxnSp>
        <p:nvCxnSpPr>
          <p:cNvPr id="28" name="Connector 27"/>
          <p:cNvCxnSpPr/>
          <p:nvPr/>
        </p:nvCxnSpPr>
        <p:spPr>
          <a:xfrm>
            <a:off x="4882896" y="3904487"/>
            <a:ext cx="128016"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047488" y="3246120"/>
            <a:ext cx="2057400" cy="132588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47488" y="3246120"/>
            <a:ext cx="50292" cy="132588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79" y="3392424"/>
            <a:ext cx="1737360" cy="502920"/>
          </a:xfrm>
          <a:prstGeom prst="rect">
            <a:avLst/>
          </a:prstGeom>
          <a:noFill/>
        </p:spPr>
        <p:txBody>
          <a:bodyPr wrap="square" lIns="18288" rIns="18288" tIns="0" bIns="0">
            <a:spAutoFit/>
          </a:bodyPr>
          <a:lstStyle/>
          <a:p>
            <a:pPr>
              <a:spcAft>
                <a:spcPts val="200"/>
              </a:spcAft>
              <a:defRPr sz="1800" b="1">
                <a:solidFill>
                  <a:srgbClr val="0072BC"/>
                </a:solidFill>
                <a:latin typeface="Calibri"/>
              </a:defRPr>
            </a:pPr>
            <a:r>
              <a:t>Capture + traffic</a:t>
            </a:r>
          </a:p>
        </p:txBody>
      </p:sp>
      <p:sp>
        <p:nvSpPr>
          <p:cNvPr id="32" name="TextBox 31"/>
          <p:cNvSpPr txBox="1"/>
          <p:nvPr/>
        </p:nvSpPr>
        <p:spPr>
          <a:xfrm>
            <a:off x="5212079" y="3904487"/>
            <a:ext cx="1737360" cy="594359"/>
          </a:xfrm>
          <a:prstGeom prst="rect">
            <a:avLst/>
          </a:prstGeom>
          <a:noFill/>
        </p:spPr>
        <p:txBody>
          <a:bodyPr wrap="square" lIns="18288" rIns="18288" tIns="0" bIns="0">
            <a:spAutoFit/>
          </a:bodyPr>
          <a:lstStyle/>
          <a:p>
            <a:pPr>
              <a:spcAft>
                <a:spcPts val="200"/>
              </a:spcAft>
              <a:defRPr sz="1550" b="0">
                <a:solidFill>
                  <a:srgbClr val="22384B"/>
                </a:solidFill>
                <a:latin typeface="Calibri"/>
              </a:defRPr>
            </a:pPr>
            <a:r>
              <a:t>tcpdump + ping/TCP</a:t>
            </a:r>
          </a:p>
        </p:txBody>
      </p:sp>
      <p:cxnSp>
        <p:nvCxnSpPr>
          <p:cNvPr id="33" name="Connector 32"/>
          <p:cNvCxnSpPr/>
          <p:nvPr/>
        </p:nvCxnSpPr>
        <p:spPr>
          <a:xfrm>
            <a:off x="7132319" y="3904487"/>
            <a:ext cx="128017"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296912" y="3246120"/>
            <a:ext cx="2057400" cy="132588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96912" y="3246120"/>
            <a:ext cx="50292" cy="132588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61504" y="3392424"/>
            <a:ext cx="1737360" cy="502920"/>
          </a:xfrm>
          <a:prstGeom prst="rect">
            <a:avLst/>
          </a:prstGeom>
          <a:noFill/>
        </p:spPr>
        <p:txBody>
          <a:bodyPr wrap="square" lIns="18288" rIns="18288" tIns="0" bIns="0">
            <a:spAutoFit/>
          </a:bodyPr>
          <a:lstStyle/>
          <a:p>
            <a:pPr>
              <a:spcAft>
                <a:spcPts val="200"/>
              </a:spcAft>
              <a:defRPr sz="1800" b="1">
                <a:solidFill>
                  <a:srgbClr val="0072BC"/>
                </a:solidFill>
                <a:latin typeface="Calibri"/>
              </a:defRPr>
            </a:pPr>
            <a:r>
              <a:t>Verify</a:t>
            </a:r>
          </a:p>
        </p:txBody>
      </p:sp>
      <p:sp>
        <p:nvSpPr>
          <p:cNvPr id="37" name="TextBox 36"/>
          <p:cNvSpPr txBox="1"/>
          <p:nvPr/>
        </p:nvSpPr>
        <p:spPr>
          <a:xfrm>
            <a:off x="7461504" y="3904487"/>
            <a:ext cx="1737360" cy="594359"/>
          </a:xfrm>
          <a:prstGeom prst="rect">
            <a:avLst/>
          </a:prstGeom>
          <a:noFill/>
        </p:spPr>
        <p:txBody>
          <a:bodyPr wrap="square" lIns="18288" rIns="18288" tIns="0" bIns="0">
            <a:spAutoFit/>
          </a:bodyPr>
          <a:lstStyle/>
          <a:p>
            <a:pPr>
              <a:spcAft>
                <a:spcPts val="200"/>
              </a:spcAft>
              <a:defRPr sz="1550" b="0">
                <a:solidFill>
                  <a:srgbClr val="22384B"/>
                </a:solidFill>
                <a:latin typeface="Calibri"/>
              </a:defRPr>
            </a:pPr>
            <a:r>
              <a:t>SA state + PFS rekey</a:t>
            </a:r>
          </a:p>
        </p:txBody>
      </p:sp>
      <p:cxnSp>
        <p:nvCxnSpPr>
          <p:cNvPr id="38" name="Connector 37"/>
          <p:cNvCxnSpPr/>
          <p:nvPr/>
        </p:nvCxnSpPr>
        <p:spPr>
          <a:xfrm>
            <a:off x="9381744" y="3904487"/>
            <a:ext cx="128015"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546336" y="3246120"/>
            <a:ext cx="2057400" cy="132588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46336" y="3246120"/>
            <a:ext cx="50292" cy="132588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10928" y="3392424"/>
            <a:ext cx="1737360" cy="502920"/>
          </a:xfrm>
          <a:prstGeom prst="rect">
            <a:avLst/>
          </a:prstGeom>
          <a:noFill/>
        </p:spPr>
        <p:txBody>
          <a:bodyPr wrap="square" lIns="18288" rIns="18288" tIns="0" bIns="0">
            <a:spAutoFit/>
          </a:bodyPr>
          <a:lstStyle/>
          <a:p>
            <a:pPr>
              <a:spcAft>
                <a:spcPts val="200"/>
              </a:spcAft>
              <a:defRPr sz="1800" b="1">
                <a:solidFill>
                  <a:srgbClr val="0072BC"/>
                </a:solidFill>
                <a:latin typeface="Calibri"/>
              </a:defRPr>
            </a:pPr>
            <a:r>
              <a:t>Label</a:t>
            </a:r>
          </a:p>
        </p:txBody>
      </p:sp>
      <p:sp>
        <p:nvSpPr>
          <p:cNvPr id="42" name="TextBox 41"/>
          <p:cNvSpPr txBox="1"/>
          <p:nvPr/>
        </p:nvSpPr>
        <p:spPr>
          <a:xfrm>
            <a:off x="9710928" y="3904487"/>
            <a:ext cx="1737360" cy="594359"/>
          </a:xfrm>
          <a:prstGeom prst="rect">
            <a:avLst/>
          </a:prstGeom>
          <a:noFill/>
        </p:spPr>
        <p:txBody>
          <a:bodyPr wrap="square" lIns="18288" rIns="18288" tIns="0" bIns="0">
            <a:spAutoFit/>
          </a:bodyPr>
          <a:lstStyle/>
          <a:p>
            <a:pPr>
              <a:spcAft>
                <a:spcPts val="200"/>
              </a:spcAft>
              <a:defRPr sz="1550" b="0">
                <a:solidFill>
                  <a:srgbClr val="22384B"/>
                </a:solidFill>
                <a:latin typeface="Calibri"/>
              </a:defRPr>
            </a:pPr>
            <a:r>
              <a:t>PCAP + metadata</a:t>
            </a:r>
          </a:p>
        </p:txBody>
      </p:sp>
      <p:sp>
        <p:nvSpPr>
          <p:cNvPr id="43" name="TextBox 42"/>
          <p:cNvSpPr txBox="1"/>
          <p:nvPr/>
        </p:nvSpPr>
        <p:spPr>
          <a:xfrm>
            <a:off x="594360" y="4965192"/>
            <a:ext cx="5669280" cy="393192"/>
          </a:xfrm>
          <a:prstGeom prst="rect">
            <a:avLst/>
          </a:prstGeom>
          <a:noFill/>
        </p:spPr>
        <p:txBody>
          <a:bodyPr wrap="square" lIns="18288" rIns="18288" tIns="0" bIns="0">
            <a:spAutoFit/>
          </a:bodyPr>
          <a:lstStyle/>
          <a:p>
            <a:pPr>
              <a:spcAft>
                <a:spcPts val="200"/>
              </a:spcAft>
              <a:defRPr sz="2200" b="1">
                <a:solidFill>
                  <a:srgbClr val="173D6A"/>
                </a:solidFill>
                <a:latin typeface="Calibri"/>
              </a:defRPr>
            </a:pPr>
            <a:r>
              <a:t>44 definitions × 5 intended repetitions</a:t>
            </a:r>
          </a:p>
        </p:txBody>
      </p:sp>
      <p:sp>
        <p:nvSpPr>
          <p:cNvPr id="44" name="TextBox 43"/>
          <p:cNvSpPr txBox="1"/>
          <p:nvPr/>
        </p:nvSpPr>
        <p:spPr>
          <a:xfrm>
            <a:off x="594360" y="5440680"/>
            <a:ext cx="5760720" cy="320040"/>
          </a:xfrm>
          <a:prstGeom prst="rect">
            <a:avLst/>
          </a:prstGeom>
          <a:noFill/>
        </p:spPr>
        <p:txBody>
          <a:bodyPr wrap="square" lIns="18288" rIns="18288" tIns="0" bIns="0">
            <a:spAutoFit/>
          </a:bodyPr>
          <a:lstStyle/>
          <a:p>
            <a:pPr>
              <a:spcAft>
                <a:spcPts val="200"/>
              </a:spcAft>
              <a:defRPr sz="1800" b="0">
                <a:solidFill>
                  <a:srgbClr val="526778"/>
                </a:solidFill>
                <a:latin typeface="Calibri"/>
              </a:defRPr>
            </a:pPr>
            <a:r>
              <a:t>157 SUCCESS + 54 FAILED metadata records</a:t>
            </a:r>
          </a:p>
        </p:txBody>
      </p:sp>
      <p:sp>
        <p:nvSpPr>
          <p:cNvPr id="45" name="TextBox 44"/>
          <p:cNvSpPr txBox="1"/>
          <p:nvPr/>
        </p:nvSpPr>
        <p:spPr>
          <a:xfrm>
            <a:off x="6446520" y="4956048"/>
            <a:ext cx="5120640" cy="795528"/>
          </a:xfrm>
          <a:prstGeom prst="rect">
            <a:avLst/>
          </a:prstGeom>
          <a:noFill/>
        </p:spPr>
        <p:txBody>
          <a:bodyPr wrap="square" lIns="18288" rIns="18288" tIns="0" bIns="0">
            <a:spAutoFit/>
          </a:bodyPr>
          <a:lstStyle/>
          <a:p>
            <a:pPr>
              <a:spcAft>
                <a:spcPts val="200"/>
              </a:spcAft>
              <a:defRPr sz="2000" b="0">
                <a:solidFill>
                  <a:srgbClr val="173D6A"/>
                </a:solidFill>
                <a:latin typeface="Calibri"/>
              </a:defRPr>
            </a:pPr>
            <a:r>
              <a:t>33 captured crypto/traffic scenarios</a:t>
            </a:r>
          </a:p>
          <a:p>
            <a:pPr>
              <a:spcAft>
                <a:spcPts val="200"/>
              </a:spcAft>
              <a:defRPr sz="2000" b="0">
                <a:solidFill>
                  <a:srgbClr val="173D6A"/>
                </a:solidFill>
                <a:latin typeface="Calibri"/>
              </a:defRPr>
            </a:pPr>
            <a:r>
              <a:t>All successes: IKEv2 + tunnel mode</a:t>
            </a:r>
          </a:p>
        </p:txBody>
      </p:sp>
      <p:sp>
        <p:nvSpPr>
          <p:cNvPr id="46" name="Rounded Rectangle 45"/>
          <p:cNvSpPr/>
          <p:nvPr/>
        </p:nvSpPr>
        <p:spPr>
          <a:xfrm>
            <a:off x="502920" y="589788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6656" y="598017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Labels are parsed from filenames; saved negotiation metadata provides the separate validation trail.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05 / FROM PACKETS TO FEATURES</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Extract features without decrypting ESP</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feature_extractor/extractor.py; backend/app/feature_extraction.py; server/scapy_analyzer.py; src/utils/aiClassifier.ts.</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06</a:t>
            </a:r>
          </a:p>
        </p:txBody>
      </p:sp>
      <p:sp>
        <p:nvSpPr>
          <p:cNvPr id="10" name="Rounded Rectangle 9"/>
          <p:cNvSpPr/>
          <p:nvPr/>
        </p:nvSpPr>
        <p:spPr>
          <a:xfrm>
            <a:off x="548640" y="1792224"/>
            <a:ext cx="5303520" cy="1746504"/>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92224"/>
            <a:ext cx="50292" cy="1746504"/>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938528"/>
            <a:ext cx="4983480" cy="502920"/>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Visible protocol evidence</a:t>
            </a:r>
          </a:p>
        </p:txBody>
      </p:sp>
      <p:sp>
        <p:nvSpPr>
          <p:cNvPr id="13" name="TextBox 12"/>
          <p:cNvSpPr txBox="1"/>
          <p:nvPr/>
        </p:nvSpPr>
        <p:spPr>
          <a:xfrm>
            <a:off x="713232" y="2450591"/>
            <a:ext cx="4983480" cy="1014983"/>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IKE version and exchange headers</a:t>
            </a:r>
          </a:p>
          <a:p>
            <a:pPr>
              <a:spcAft>
                <a:spcPts val="200"/>
              </a:spcAft>
              <a:defRPr sz="2000" b="0">
                <a:solidFill>
                  <a:srgbClr val="22384B"/>
                </a:solidFill>
                <a:latin typeface="Calibri"/>
              </a:defRPr>
            </a:pPr>
            <a:r>
              <a:t>SA transform IDs and key length</a:t>
            </a:r>
          </a:p>
          <a:p>
            <a:pPr>
              <a:spcAft>
                <a:spcPts val="200"/>
              </a:spcAft>
              <a:defRPr sz="2000" b="0">
                <a:solidFill>
                  <a:srgbClr val="22384B"/>
                </a:solidFill>
                <a:latin typeface="Calibri"/>
              </a:defRPr>
            </a:pPr>
            <a:r>
              <a:t>ESP SPI and sequence numbers</a:t>
            </a:r>
          </a:p>
        </p:txBody>
      </p:sp>
      <p:sp>
        <p:nvSpPr>
          <p:cNvPr id="14" name="Rounded Rectangle 13"/>
          <p:cNvSpPr/>
          <p:nvPr/>
        </p:nvSpPr>
        <p:spPr>
          <a:xfrm>
            <a:off x="6126480" y="1792224"/>
            <a:ext cx="5513832" cy="1746504"/>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792224"/>
            <a:ext cx="50292" cy="1746504"/>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1938528"/>
            <a:ext cx="5193792" cy="502920"/>
          </a:xfrm>
          <a:prstGeom prst="rect">
            <a:avLst/>
          </a:prstGeom>
          <a:noFill/>
        </p:spPr>
        <p:txBody>
          <a:bodyPr wrap="square" lIns="18288" rIns="18288" tIns="0" bIns="0">
            <a:spAutoFit/>
          </a:bodyPr>
          <a:lstStyle/>
          <a:p>
            <a:pPr>
              <a:spcAft>
                <a:spcPts val="200"/>
              </a:spcAft>
              <a:defRPr sz="2100" b="1">
                <a:solidFill>
                  <a:srgbClr val="45ADC4"/>
                </a:solidFill>
                <a:latin typeface="Calibri"/>
              </a:defRPr>
            </a:pPr>
            <a:r>
              <a:t>Encrypted-flow observations</a:t>
            </a:r>
          </a:p>
        </p:txBody>
      </p:sp>
      <p:sp>
        <p:nvSpPr>
          <p:cNvPr id="17" name="TextBox 16"/>
          <p:cNvSpPr txBox="1"/>
          <p:nvPr/>
        </p:nvSpPr>
        <p:spPr>
          <a:xfrm>
            <a:off x="6291072" y="2450591"/>
            <a:ext cx="5193792" cy="1014983"/>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Packet sizes, byte counts and duration</a:t>
            </a:r>
          </a:p>
          <a:p>
            <a:pPr>
              <a:spcAft>
                <a:spcPts val="200"/>
              </a:spcAft>
              <a:defRPr sz="2000" b="0">
                <a:solidFill>
                  <a:srgbClr val="22384B"/>
                </a:solidFill>
                <a:latin typeface="Calibri"/>
              </a:defRPr>
            </a:pPr>
            <a:r>
              <a:t>Timing, symmetry and entropy in UI</a:t>
            </a:r>
          </a:p>
          <a:p>
            <a:pPr>
              <a:spcAft>
                <a:spcPts val="200"/>
              </a:spcAft>
              <a:defRPr sz="2000" b="0">
                <a:solidFill>
                  <a:srgbClr val="22384B"/>
                </a:solidFill>
                <a:latin typeface="Calibri"/>
              </a:defRPr>
            </a:pPr>
            <a:r>
              <a:t>Application plaintext remains hidden</a:t>
            </a:r>
          </a:p>
        </p:txBody>
      </p:sp>
      <p:sp>
        <p:nvSpPr>
          <p:cNvPr id="18" name="TextBox 17"/>
          <p:cNvSpPr txBox="1"/>
          <p:nvPr/>
        </p:nvSpPr>
        <p:spPr>
          <a:xfrm>
            <a:off x="576072" y="3776472"/>
            <a:ext cx="10972800" cy="320040"/>
          </a:xfrm>
          <a:prstGeom prst="rect">
            <a:avLst/>
          </a:prstGeom>
          <a:noFill/>
        </p:spPr>
        <p:txBody>
          <a:bodyPr wrap="square" lIns="18288" rIns="18288" tIns="0" bIns="0">
            <a:spAutoFit/>
          </a:bodyPr>
          <a:lstStyle/>
          <a:p>
            <a:pPr>
              <a:spcAft>
                <a:spcPts val="200"/>
              </a:spcAft>
              <a:defRPr sz="1200" b="1">
                <a:solidFill>
                  <a:srgbClr val="0072BC"/>
                </a:solidFill>
                <a:latin typeface="Calibri"/>
              </a:defRPr>
            </a:pPr>
            <a:r>
              <a:t>EXACT INPUTS TO THE FOUR CRYPTO MODELS  /  18 FEATURES</a:t>
            </a:r>
          </a:p>
        </p:txBody>
      </p:sp>
      <p:sp>
        <p:nvSpPr>
          <p:cNvPr id="19" name="Rounded Rectangle 18"/>
          <p:cNvSpPr/>
          <p:nvPr/>
        </p:nvSpPr>
        <p:spPr>
          <a:xfrm>
            <a:off x="548640" y="4215384"/>
            <a:ext cx="3465576" cy="14813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325112"/>
            <a:ext cx="3154680" cy="1371600"/>
          </a:xfrm>
          <a:prstGeom prst="rect">
            <a:avLst/>
          </a:prstGeom>
          <a:noFill/>
        </p:spPr>
        <p:txBody>
          <a:bodyPr wrap="square" lIns="18288" rIns="18288" tIns="0" bIns="0">
            <a:spAutoFit/>
          </a:bodyPr>
          <a:lstStyle/>
          <a:p>
            <a:pPr>
              <a:spcAft>
                <a:spcPts val="0"/>
              </a:spcAft>
              <a:defRPr sz="1450" b="0">
                <a:solidFill>
                  <a:srgbClr val="173D6A"/>
                </a:solidFill>
                <a:latin typeface="Consolas"/>
              </a:defRPr>
            </a:pPr>
            <a:r>
              <a:t>packet_count</a:t>
            </a:r>
          </a:p>
          <a:p>
            <a:pPr>
              <a:spcAft>
                <a:spcPts val="0"/>
              </a:spcAft>
              <a:defRPr sz="1450" b="0">
                <a:solidFill>
                  <a:srgbClr val="173D6A"/>
                </a:solidFill>
                <a:latin typeface="Consolas"/>
              </a:defRPr>
            </a:pPr>
            <a:r>
              <a:t>total_bytes</a:t>
            </a:r>
          </a:p>
          <a:p>
            <a:pPr>
              <a:spcAft>
                <a:spcPts val="0"/>
              </a:spcAft>
              <a:defRPr sz="1450" b="0">
                <a:solidFill>
                  <a:srgbClr val="173D6A"/>
                </a:solidFill>
                <a:latin typeface="Consolas"/>
              </a:defRPr>
            </a:pPr>
            <a:r>
              <a:t>avg_packet_size</a:t>
            </a:r>
          </a:p>
          <a:p>
            <a:pPr>
              <a:spcAft>
                <a:spcPts val="0"/>
              </a:spcAft>
              <a:defRPr sz="1450" b="0">
                <a:solidFill>
                  <a:srgbClr val="173D6A"/>
                </a:solidFill>
                <a:latin typeface="Consolas"/>
              </a:defRPr>
            </a:pPr>
            <a:r>
              <a:t>min_packet_size</a:t>
            </a:r>
          </a:p>
          <a:p>
            <a:pPr>
              <a:spcAft>
                <a:spcPts val="0"/>
              </a:spcAft>
              <a:defRPr sz="1450" b="0">
                <a:solidFill>
                  <a:srgbClr val="173D6A"/>
                </a:solidFill>
                <a:latin typeface="Consolas"/>
              </a:defRPr>
            </a:pPr>
            <a:r>
              <a:t>max_packet_size</a:t>
            </a:r>
          </a:p>
          <a:p>
            <a:pPr>
              <a:spcAft>
                <a:spcPts val="0"/>
              </a:spcAft>
              <a:defRPr sz="1450" b="0">
                <a:solidFill>
                  <a:srgbClr val="173D6A"/>
                </a:solidFill>
                <a:latin typeface="Consolas"/>
              </a:defRPr>
            </a:pPr>
            <a:r>
              <a:t>capture_duration_seconds</a:t>
            </a:r>
          </a:p>
        </p:txBody>
      </p:sp>
      <p:sp>
        <p:nvSpPr>
          <p:cNvPr id="21" name="Rounded Rectangle 20"/>
          <p:cNvSpPr/>
          <p:nvPr/>
        </p:nvSpPr>
        <p:spPr>
          <a:xfrm>
            <a:off x="4361688" y="4215384"/>
            <a:ext cx="3465576" cy="14813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325112"/>
            <a:ext cx="3154680" cy="1371600"/>
          </a:xfrm>
          <a:prstGeom prst="rect">
            <a:avLst/>
          </a:prstGeom>
          <a:noFill/>
        </p:spPr>
        <p:txBody>
          <a:bodyPr wrap="square" lIns="18288" rIns="18288" tIns="0" bIns="0">
            <a:spAutoFit/>
          </a:bodyPr>
          <a:lstStyle/>
          <a:p>
            <a:pPr>
              <a:spcAft>
                <a:spcPts val="0"/>
              </a:spcAft>
              <a:defRPr sz="1450" b="0">
                <a:solidFill>
                  <a:srgbClr val="173D6A"/>
                </a:solidFill>
                <a:latin typeface="Consolas"/>
              </a:defRPr>
            </a:pPr>
            <a:r>
              <a:t>udp_packet_count</a:t>
            </a:r>
          </a:p>
          <a:p>
            <a:pPr>
              <a:spcAft>
                <a:spcPts val="0"/>
              </a:spcAft>
              <a:defRPr sz="1450" b="0">
                <a:solidFill>
                  <a:srgbClr val="173D6A"/>
                </a:solidFill>
                <a:latin typeface="Consolas"/>
              </a:defRPr>
            </a:pPr>
            <a:r>
              <a:t>udp_500_count</a:t>
            </a:r>
          </a:p>
          <a:p>
            <a:pPr>
              <a:spcAft>
                <a:spcPts val="0"/>
              </a:spcAft>
              <a:defRPr sz="1450" b="0">
                <a:solidFill>
                  <a:srgbClr val="173D6A"/>
                </a:solidFill>
                <a:latin typeface="Consolas"/>
              </a:defRPr>
            </a:pPr>
            <a:r>
              <a:t>ike_packet_count</a:t>
            </a:r>
          </a:p>
          <a:p>
            <a:pPr>
              <a:spcAft>
                <a:spcPts val="0"/>
              </a:spcAft>
              <a:defRPr sz="1450" b="0">
                <a:solidFill>
                  <a:srgbClr val="173D6A"/>
                </a:solidFill>
                <a:latin typeface="Consolas"/>
              </a:defRPr>
            </a:pPr>
            <a:r>
              <a:t>esp_packet_count</a:t>
            </a:r>
          </a:p>
          <a:p>
            <a:pPr>
              <a:spcAft>
                <a:spcPts val="0"/>
              </a:spcAft>
              <a:defRPr sz="1450" b="0">
                <a:solidFill>
                  <a:srgbClr val="173D6A"/>
                </a:solidFill>
                <a:latin typeface="Consolas"/>
              </a:defRPr>
            </a:pPr>
            <a:r>
              <a:t>create_child_sa_count</a:t>
            </a:r>
          </a:p>
          <a:p>
            <a:pPr>
              <a:spcAft>
                <a:spcPts val="0"/>
              </a:spcAft>
              <a:defRPr sz="1450" b="0">
                <a:solidFill>
                  <a:srgbClr val="173D6A"/>
                </a:solidFill>
                <a:latin typeface="Consolas"/>
              </a:defRPr>
            </a:pPr>
            <a:r>
              <a:t>informational_count</a:t>
            </a:r>
          </a:p>
        </p:txBody>
      </p:sp>
      <p:sp>
        <p:nvSpPr>
          <p:cNvPr id="23" name="Rounded Rectangle 22"/>
          <p:cNvSpPr/>
          <p:nvPr/>
        </p:nvSpPr>
        <p:spPr>
          <a:xfrm>
            <a:off x="8174736" y="4215384"/>
            <a:ext cx="3465576" cy="14813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7" y="4325112"/>
            <a:ext cx="3154680" cy="1371600"/>
          </a:xfrm>
          <a:prstGeom prst="rect">
            <a:avLst/>
          </a:prstGeom>
          <a:noFill/>
        </p:spPr>
        <p:txBody>
          <a:bodyPr wrap="square" lIns="18288" rIns="18288" tIns="0" bIns="0">
            <a:spAutoFit/>
          </a:bodyPr>
          <a:lstStyle/>
          <a:p>
            <a:pPr>
              <a:spcAft>
                <a:spcPts val="0"/>
              </a:spcAft>
              <a:defRPr sz="1450" b="0">
                <a:solidFill>
                  <a:srgbClr val="173D6A"/>
                </a:solidFill>
                <a:latin typeface="Consolas"/>
              </a:defRPr>
            </a:pPr>
            <a:r>
              <a:t>ike_request_count</a:t>
            </a:r>
          </a:p>
          <a:p>
            <a:pPr>
              <a:spcAft>
                <a:spcPts val="0"/>
              </a:spcAft>
              <a:defRPr sz="1450" b="0">
                <a:solidFill>
                  <a:srgbClr val="173D6A"/>
                </a:solidFill>
                <a:latin typeface="Consolas"/>
              </a:defRPr>
            </a:pPr>
            <a:r>
              <a:t>ike_response_count</a:t>
            </a:r>
          </a:p>
          <a:p>
            <a:pPr>
              <a:spcAft>
                <a:spcPts val="0"/>
              </a:spcAft>
              <a:defRPr sz="1450" b="0">
                <a:solidFill>
                  <a:srgbClr val="173D6A"/>
                </a:solidFill>
                <a:latin typeface="Consolas"/>
              </a:defRPr>
            </a:pPr>
            <a:r>
              <a:t>ike_bytes</a:t>
            </a:r>
          </a:p>
          <a:p>
            <a:pPr>
              <a:spcAft>
                <a:spcPts val="0"/>
              </a:spcAft>
              <a:defRPr sz="1450" b="0">
                <a:solidFill>
                  <a:srgbClr val="173D6A"/>
                </a:solidFill>
                <a:latin typeface="Consolas"/>
              </a:defRPr>
            </a:pPr>
            <a:r>
              <a:t>ike_avg_packet_size</a:t>
            </a:r>
          </a:p>
          <a:p>
            <a:pPr>
              <a:spcAft>
                <a:spcPts val="0"/>
              </a:spcAft>
              <a:defRPr sz="1450" b="0">
                <a:solidFill>
                  <a:srgbClr val="173D6A"/>
                </a:solidFill>
                <a:latin typeface="Consolas"/>
              </a:defRPr>
            </a:pPr>
            <a:r>
              <a:t>esp_bytes</a:t>
            </a:r>
          </a:p>
          <a:p>
            <a:pPr>
              <a:spcAft>
                <a:spcPts val="0"/>
              </a:spcAft>
              <a:defRPr sz="1450" b="0">
                <a:solidFill>
                  <a:srgbClr val="173D6A"/>
                </a:solidFill>
                <a:latin typeface="Consolas"/>
              </a:defRPr>
            </a:pPr>
            <a:r>
              <a:t>esp_avg_packet_size</a:t>
            </a:r>
          </a:p>
        </p:txBody>
      </p:sp>
      <p:sp>
        <p:nvSpPr>
          <p:cNvPr id="25" name="Rounded Rectangle 24"/>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Timing, symmetry and entropy are separate UI flow statistics; they are not inputs to these 4 crypto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06 / ML PIPELINE</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Four models. Four configuration estimates.</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train_final_models.py; make_split.py; model_metadata.joblib; backend/app/ml_inference.py.</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07</a:t>
            </a:r>
          </a:p>
        </p:txBody>
      </p:sp>
      <p:sp>
        <p:nvSpPr>
          <p:cNvPr id="10" name="Rounded Rectangle 9"/>
          <p:cNvSpPr/>
          <p:nvPr/>
        </p:nvSpPr>
        <p:spPr>
          <a:xfrm>
            <a:off x="548640" y="1865376"/>
            <a:ext cx="2578608" cy="13075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65376"/>
            <a:ext cx="50292" cy="13075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11680"/>
            <a:ext cx="2258568"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PCAP</a:t>
            </a:r>
          </a:p>
        </p:txBody>
      </p:sp>
      <p:sp>
        <p:nvSpPr>
          <p:cNvPr id="13" name="TextBox 12"/>
          <p:cNvSpPr txBox="1"/>
          <p:nvPr/>
        </p:nvSpPr>
        <p:spPr>
          <a:xfrm>
            <a:off x="713232" y="2523744"/>
            <a:ext cx="2258568" cy="576071"/>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Scapy extraction</a:t>
            </a:r>
          </a:p>
        </p:txBody>
      </p:sp>
      <p:cxnSp>
        <p:nvCxnSpPr>
          <p:cNvPr id="14" name="Connector 13"/>
          <p:cNvCxnSpPr/>
          <p:nvPr/>
        </p:nvCxnSpPr>
        <p:spPr>
          <a:xfrm>
            <a:off x="3163824" y="2496312"/>
            <a:ext cx="192024"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87852" y="1865376"/>
            <a:ext cx="2578608" cy="13075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7852" y="1865376"/>
            <a:ext cx="50292" cy="13075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2444" y="2011680"/>
            <a:ext cx="2258568"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18 features</a:t>
            </a:r>
          </a:p>
        </p:txBody>
      </p:sp>
      <p:sp>
        <p:nvSpPr>
          <p:cNvPr id="18" name="TextBox 17"/>
          <p:cNvSpPr txBox="1"/>
          <p:nvPr/>
        </p:nvSpPr>
        <p:spPr>
          <a:xfrm>
            <a:off x="3552444" y="2523744"/>
            <a:ext cx="2258568" cy="576071"/>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Select + order columns</a:t>
            </a:r>
          </a:p>
        </p:txBody>
      </p:sp>
      <p:cxnSp>
        <p:nvCxnSpPr>
          <p:cNvPr id="19" name="Connector 18"/>
          <p:cNvCxnSpPr/>
          <p:nvPr/>
        </p:nvCxnSpPr>
        <p:spPr>
          <a:xfrm>
            <a:off x="6003036" y="2496312"/>
            <a:ext cx="192024"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1865376"/>
            <a:ext cx="2578608" cy="13075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7064" y="1865376"/>
            <a:ext cx="50292" cy="13075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5" y="2011680"/>
            <a:ext cx="2258568"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4 forests</a:t>
            </a:r>
          </a:p>
        </p:txBody>
      </p:sp>
      <p:sp>
        <p:nvSpPr>
          <p:cNvPr id="23" name="TextBox 22"/>
          <p:cNvSpPr txBox="1"/>
          <p:nvPr/>
        </p:nvSpPr>
        <p:spPr>
          <a:xfrm>
            <a:off x="6391655" y="2523744"/>
            <a:ext cx="2258568" cy="576071"/>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300 trees per model</a:t>
            </a:r>
          </a:p>
        </p:txBody>
      </p:sp>
      <p:cxnSp>
        <p:nvCxnSpPr>
          <p:cNvPr id="24" name="Connector 23"/>
          <p:cNvCxnSpPr/>
          <p:nvPr/>
        </p:nvCxnSpPr>
        <p:spPr>
          <a:xfrm>
            <a:off x="8842248" y="2496312"/>
            <a:ext cx="192024"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66276" y="1865376"/>
            <a:ext cx="2578608" cy="13075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66276" y="1865376"/>
            <a:ext cx="50292" cy="13075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0867" y="2011680"/>
            <a:ext cx="2258568"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Prediction</a:t>
            </a:r>
          </a:p>
        </p:txBody>
      </p:sp>
      <p:sp>
        <p:nvSpPr>
          <p:cNvPr id="28" name="TextBox 27"/>
          <p:cNvSpPr txBox="1"/>
          <p:nvPr/>
        </p:nvSpPr>
        <p:spPr>
          <a:xfrm>
            <a:off x="9230867" y="2523744"/>
            <a:ext cx="2258568" cy="576071"/>
          </a:xfrm>
          <a:prstGeom prst="rect">
            <a:avLst/>
          </a:prstGeom>
          <a:noFill/>
        </p:spPr>
        <p:txBody>
          <a:bodyPr wrap="square" lIns="18288" rIns="18288" tIns="0" bIns="0">
            <a:spAutoFit/>
          </a:bodyPr>
          <a:lstStyle/>
          <a:p>
            <a:pPr>
              <a:spcAft>
                <a:spcPts val="200"/>
              </a:spcAft>
              <a:defRPr sz="1600" b="0">
                <a:solidFill>
                  <a:srgbClr val="22384B"/>
                </a:solidFill>
                <a:latin typeface="Calibri"/>
              </a:defRPr>
            </a:pPr>
            <a:r>
              <a:t>Class + probability</a:t>
            </a:r>
          </a:p>
        </p:txBody>
      </p:sp>
      <p:sp>
        <p:nvSpPr>
          <p:cNvPr id="29" name="Rectangle 28"/>
          <p:cNvSpPr/>
          <p:nvPr/>
        </p:nvSpPr>
        <p:spPr>
          <a:xfrm>
            <a:off x="548640" y="3593592"/>
            <a:ext cx="6629400" cy="41148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3662172"/>
            <a:ext cx="2103120" cy="283464"/>
          </a:xfrm>
          <a:prstGeom prst="rect">
            <a:avLst/>
          </a:prstGeom>
          <a:noFill/>
        </p:spPr>
        <p:txBody>
          <a:bodyPr wrap="square" lIns="18288" rIns="18288" tIns="0" bIns="0">
            <a:spAutoFit/>
          </a:bodyPr>
          <a:lstStyle/>
          <a:p>
            <a:pPr>
              <a:spcAft>
                <a:spcPts val="200"/>
              </a:spcAft>
              <a:defRPr sz="1700" b="1">
                <a:solidFill>
                  <a:srgbClr val="173D6A"/>
                </a:solidFill>
                <a:latin typeface="Calibri"/>
              </a:defRPr>
            </a:pPr>
            <a:r>
              <a:t>Encryption</a:t>
            </a:r>
          </a:p>
        </p:txBody>
      </p:sp>
      <p:sp>
        <p:nvSpPr>
          <p:cNvPr id="31" name="TextBox 30"/>
          <p:cNvSpPr txBox="1"/>
          <p:nvPr/>
        </p:nvSpPr>
        <p:spPr>
          <a:xfrm>
            <a:off x="2926080" y="3662172"/>
            <a:ext cx="4069080" cy="283464"/>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AES128  ·  AES256</a:t>
            </a:r>
          </a:p>
        </p:txBody>
      </p:sp>
      <p:sp>
        <p:nvSpPr>
          <p:cNvPr id="32" name="Rectangle 31"/>
          <p:cNvSpPr/>
          <p:nvPr/>
        </p:nvSpPr>
        <p:spPr>
          <a:xfrm>
            <a:off x="548640" y="4059936"/>
            <a:ext cx="662940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4128516"/>
            <a:ext cx="2103120" cy="283464"/>
          </a:xfrm>
          <a:prstGeom prst="rect">
            <a:avLst/>
          </a:prstGeom>
          <a:noFill/>
        </p:spPr>
        <p:txBody>
          <a:bodyPr wrap="square" lIns="18288" rIns="18288" tIns="0" bIns="0">
            <a:spAutoFit/>
          </a:bodyPr>
          <a:lstStyle/>
          <a:p>
            <a:pPr>
              <a:spcAft>
                <a:spcPts val="200"/>
              </a:spcAft>
              <a:defRPr sz="1700" b="1">
                <a:solidFill>
                  <a:srgbClr val="173D6A"/>
                </a:solidFill>
                <a:latin typeface="Calibri"/>
              </a:defRPr>
            </a:pPr>
            <a:r>
              <a:t>Hash / integrity</a:t>
            </a:r>
          </a:p>
        </p:txBody>
      </p:sp>
      <p:sp>
        <p:nvSpPr>
          <p:cNvPr id="34" name="TextBox 33"/>
          <p:cNvSpPr txBox="1"/>
          <p:nvPr/>
        </p:nvSpPr>
        <p:spPr>
          <a:xfrm>
            <a:off x="2926080" y="4128516"/>
            <a:ext cx="4069080" cy="283464"/>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SHA256  ·  SHA384</a:t>
            </a:r>
          </a:p>
        </p:txBody>
      </p:sp>
      <p:sp>
        <p:nvSpPr>
          <p:cNvPr id="35" name="Rectangle 34"/>
          <p:cNvSpPr/>
          <p:nvPr/>
        </p:nvSpPr>
        <p:spPr>
          <a:xfrm>
            <a:off x="548640" y="4526280"/>
            <a:ext cx="6629400" cy="41148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944" y="4594860"/>
            <a:ext cx="2103120" cy="283464"/>
          </a:xfrm>
          <a:prstGeom prst="rect">
            <a:avLst/>
          </a:prstGeom>
          <a:noFill/>
        </p:spPr>
        <p:txBody>
          <a:bodyPr wrap="square" lIns="18288" rIns="18288" tIns="0" bIns="0">
            <a:spAutoFit/>
          </a:bodyPr>
          <a:lstStyle/>
          <a:p>
            <a:pPr>
              <a:spcAft>
                <a:spcPts val="200"/>
              </a:spcAft>
              <a:defRPr sz="1700" b="1">
                <a:solidFill>
                  <a:srgbClr val="173D6A"/>
                </a:solidFill>
                <a:latin typeface="Calibri"/>
              </a:defRPr>
            </a:pPr>
            <a:r>
              <a:t>DH group</a:t>
            </a:r>
          </a:p>
        </p:txBody>
      </p:sp>
      <p:sp>
        <p:nvSpPr>
          <p:cNvPr id="37" name="TextBox 36"/>
          <p:cNvSpPr txBox="1"/>
          <p:nvPr/>
        </p:nvSpPr>
        <p:spPr>
          <a:xfrm>
            <a:off x="2926080" y="4594860"/>
            <a:ext cx="4069080" cy="283464"/>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DH14  ·  DH15</a:t>
            </a:r>
          </a:p>
        </p:txBody>
      </p:sp>
      <p:sp>
        <p:nvSpPr>
          <p:cNvPr id="38" name="Rectangle 37"/>
          <p:cNvSpPr/>
          <p:nvPr/>
        </p:nvSpPr>
        <p:spPr>
          <a:xfrm>
            <a:off x="548640" y="4992624"/>
            <a:ext cx="662940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5061204"/>
            <a:ext cx="2103120" cy="283464"/>
          </a:xfrm>
          <a:prstGeom prst="rect">
            <a:avLst/>
          </a:prstGeom>
          <a:noFill/>
        </p:spPr>
        <p:txBody>
          <a:bodyPr wrap="square" lIns="18288" rIns="18288" tIns="0" bIns="0">
            <a:spAutoFit/>
          </a:bodyPr>
          <a:lstStyle/>
          <a:p>
            <a:pPr>
              <a:spcAft>
                <a:spcPts val="200"/>
              </a:spcAft>
              <a:defRPr sz="1700" b="1">
                <a:solidFill>
                  <a:srgbClr val="173D6A"/>
                </a:solidFill>
                <a:latin typeface="Calibri"/>
              </a:defRPr>
            </a:pPr>
            <a:r>
              <a:t>PFS class</a:t>
            </a:r>
          </a:p>
        </p:txBody>
      </p:sp>
      <p:sp>
        <p:nvSpPr>
          <p:cNvPr id="40" name="TextBox 39"/>
          <p:cNvSpPr txBox="1"/>
          <p:nvPr/>
        </p:nvSpPr>
        <p:spPr>
          <a:xfrm>
            <a:off x="2926080" y="5061204"/>
            <a:ext cx="4069080" cy="283464"/>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NOPFS  ·  PFS14  ·  PFS15</a:t>
            </a:r>
          </a:p>
        </p:txBody>
      </p:sp>
      <p:sp>
        <p:nvSpPr>
          <p:cNvPr id="41" name="Rounded Rectangle 40"/>
          <p:cNvSpPr/>
          <p:nvPr/>
        </p:nvSpPr>
        <p:spPr>
          <a:xfrm>
            <a:off x="7479792" y="3593592"/>
            <a:ext cx="4160520" cy="18105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79792" y="3593592"/>
            <a:ext cx="50292" cy="181051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44383" y="3739896"/>
            <a:ext cx="3840480" cy="502920"/>
          </a:xfrm>
          <a:prstGeom prst="rect">
            <a:avLst/>
          </a:prstGeom>
          <a:noFill/>
        </p:spPr>
        <p:txBody>
          <a:bodyPr wrap="square" lIns="18288" rIns="18288" tIns="0" bIns="0">
            <a:spAutoFit/>
          </a:bodyPr>
          <a:lstStyle/>
          <a:p>
            <a:pPr>
              <a:spcAft>
                <a:spcPts val="200"/>
              </a:spcAft>
              <a:defRPr sz="2100" b="1">
                <a:solidFill>
                  <a:srgbClr val="0072BC"/>
                </a:solidFill>
                <a:latin typeface="Calibri"/>
              </a:defRPr>
            </a:pPr>
            <a:r>
              <a:t>Training contract</a:t>
            </a:r>
          </a:p>
        </p:txBody>
      </p:sp>
      <p:sp>
        <p:nvSpPr>
          <p:cNvPr id="44" name="TextBox 43"/>
          <p:cNvSpPr txBox="1"/>
          <p:nvPr/>
        </p:nvSpPr>
        <p:spPr>
          <a:xfrm>
            <a:off x="7644383" y="4251960"/>
            <a:ext cx="3840480" cy="1078992"/>
          </a:xfrm>
          <a:prstGeom prst="rect">
            <a:avLst/>
          </a:prstGeom>
          <a:noFill/>
        </p:spPr>
        <p:txBody>
          <a:bodyPr wrap="square" lIns="18288" rIns="18288" tIns="0" bIns="0">
            <a:spAutoFit/>
          </a:bodyPr>
          <a:lstStyle/>
          <a:p>
            <a:pPr>
              <a:spcAft>
                <a:spcPts val="200"/>
              </a:spcAft>
              <a:defRPr sz="1800" b="0">
                <a:solidFill>
                  <a:srgbClr val="22384B"/>
                </a:solidFill>
                <a:latin typeface="Calibri"/>
              </a:defRPr>
            </a:pPr>
            <a:r>
              <a:t>126 rows · repetitions 1–4</a:t>
            </a:r>
          </a:p>
          <a:p>
            <a:pPr>
              <a:spcAft>
                <a:spcPts val="200"/>
              </a:spcAft>
              <a:defRPr sz="1800" b="0">
                <a:solidFill>
                  <a:srgbClr val="22384B"/>
                </a:solidFill>
                <a:latin typeface="Calibri"/>
              </a:defRPr>
            </a:pPr>
            <a:r>
              <a:t>Balanced class weights · seed 42</a:t>
            </a:r>
          </a:p>
          <a:p>
            <a:pPr>
              <a:spcAft>
                <a:spcPts val="200"/>
              </a:spcAft>
              <a:defRPr sz="1800" b="0">
                <a:solidFill>
                  <a:srgbClr val="22384B"/>
                </a:solidFill>
                <a:latin typeface="Calibri"/>
              </a:defRPr>
            </a:pPr>
            <a:r>
              <a:t>No scaler in bundled training</a:t>
            </a:r>
          </a:p>
        </p:txBody>
      </p:sp>
      <p:sp>
        <p:nvSpPr>
          <p:cNvPr id="45" name="Rounded Rectangle 44"/>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No mode, IKE-version or traffic-type target. Probabilities are uncalibrated; unseen classes are not rejected.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07 / MODEL VALIDATION</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Measured results show both capability and limits</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Reproduced from bundled joblib files + test.csv; full metrics and confusion matrices: presentation_work/evidence/model_evaluation.json.</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08</a:t>
            </a:r>
          </a:p>
        </p:txBody>
      </p:sp>
      <p:sp>
        <p:nvSpPr>
          <p:cNvPr id="10" name="TextBox 9"/>
          <p:cNvSpPr txBox="1"/>
          <p:nvPr/>
        </p:nvSpPr>
        <p:spPr>
          <a:xfrm>
            <a:off x="548640" y="1755648"/>
            <a:ext cx="8321040" cy="411480"/>
          </a:xfrm>
          <a:prstGeom prst="rect">
            <a:avLst/>
          </a:prstGeom>
          <a:noFill/>
        </p:spPr>
        <p:txBody>
          <a:bodyPr wrap="square" lIns="18288" rIns="18288" tIns="0" bIns="0">
            <a:spAutoFit/>
          </a:bodyPr>
          <a:lstStyle/>
          <a:p>
            <a:pPr>
              <a:spcAft>
                <a:spcPts val="200"/>
              </a:spcAft>
              <a:defRPr sz="2300" b="1">
                <a:solidFill>
                  <a:srgbClr val="173D6A"/>
                </a:solidFill>
                <a:latin typeface="Calibri"/>
              </a:defRPr>
            </a:pPr>
            <a:r>
              <a:t>Held-out accuracy  /  Repetition 5  /  31 captures</a:t>
            </a:r>
          </a:p>
        </p:txBody>
      </p:sp>
      <p:sp>
        <p:nvSpPr>
          <p:cNvPr id="11" name="TextBox 10"/>
          <p:cNvSpPr txBox="1"/>
          <p:nvPr/>
        </p:nvSpPr>
        <p:spPr>
          <a:xfrm>
            <a:off x="566928" y="2505456"/>
            <a:ext cx="1325880" cy="347472"/>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Cipher</a:t>
            </a:r>
          </a:p>
        </p:txBody>
      </p:sp>
      <p:sp>
        <p:nvSpPr>
          <p:cNvPr id="12" name="Rectangle 11"/>
          <p:cNvSpPr/>
          <p:nvPr/>
        </p:nvSpPr>
        <p:spPr>
          <a:xfrm>
            <a:off x="1975104" y="2523744"/>
            <a:ext cx="4114800" cy="29260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75104" y="2523744"/>
            <a:ext cx="2521960" cy="292608"/>
          </a:xfrm>
          <a:prstGeom prst="rect">
            <a:avLst/>
          </a:prstGeom>
          <a:solidFill>
            <a:srgbClr val="C7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2505456"/>
            <a:ext cx="2286000" cy="384048"/>
          </a:xfrm>
          <a:prstGeom prst="rect">
            <a:avLst/>
          </a:prstGeom>
          <a:noFill/>
        </p:spPr>
        <p:txBody>
          <a:bodyPr wrap="square" lIns="18288" rIns="18288" tIns="0" bIns="0">
            <a:spAutoFit/>
          </a:bodyPr>
          <a:lstStyle/>
          <a:p>
            <a:pPr>
              <a:spcAft>
                <a:spcPts val="200"/>
              </a:spcAft>
              <a:defRPr sz="2000" b="0">
                <a:solidFill>
                  <a:srgbClr val="173D6A"/>
                </a:solidFill>
                <a:latin typeface="Calibri"/>
              </a:defRPr>
            </a:pPr>
            <a:r>
              <a:t>61.29%  (19/31)</a:t>
            </a:r>
          </a:p>
        </p:txBody>
      </p:sp>
      <p:sp>
        <p:nvSpPr>
          <p:cNvPr id="15" name="TextBox 14"/>
          <p:cNvSpPr txBox="1"/>
          <p:nvPr/>
        </p:nvSpPr>
        <p:spPr>
          <a:xfrm>
            <a:off x="566928" y="3127248"/>
            <a:ext cx="1325880" cy="347472"/>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Hash</a:t>
            </a:r>
          </a:p>
        </p:txBody>
      </p:sp>
      <p:sp>
        <p:nvSpPr>
          <p:cNvPr id="16" name="Rectangle 15"/>
          <p:cNvSpPr/>
          <p:nvPr/>
        </p:nvSpPr>
        <p:spPr>
          <a:xfrm>
            <a:off x="1975104" y="3145536"/>
            <a:ext cx="4114800" cy="29260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975104" y="3145536"/>
            <a:ext cx="4114800" cy="29260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3127248"/>
            <a:ext cx="2286000" cy="384048"/>
          </a:xfrm>
          <a:prstGeom prst="rect">
            <a:avLst/>
          </a:prstGeom>
          <a:noFill/>
        </p:spPr>
        <p:txBody>
          <a:bodyPr wrap="square" lIns="18288" rIns="18288" tIns="0" bIns="0">
            <a:spAutoFit/>
          </a:bodyPr>
          <a:lstStyle/>
          <a:p>
            <a:pPr>
              <a:spcAft>
                <a:spcPts val="200"/>
              </a:spcAft>
              <a:defRPr sz="2000" b="0">
                <a:solidFill>
                  <a:srgbClr val="173D6A"/>
                </a:solidFill>
                <a:latin typeface="Calibri"/>
              </a:defRPr>
            </a:pPr>
            <a:r>
              <a:t>100.00%  (31/31)</a:t>
            </a:r>
          </a:p>
        </p:txBody>
      </p:sp>
      <p:sp>
        <p:nvSpPr>
          <p:cNvPr id="19" name="TextBox 18"/>
          <p:cNvSpPr txBox="1"/>
          <p:nvPr/>
        </p:nvSpPr>
        <p:spPr>
          <a:xfrm>
            <a:off x="566928" y="3749040"/>
            <a:ext cx="1325880" cy="347472"/>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DH group</a:t>
            </a:r>
          </a:p>
        </p:txBody>
      </p:sp>
      <p:sp>
        <p:nvSpPr>
          <p:cNvPr id="20" name="Rectangle 19"/>
          <p:cNvSpPr/>
          <p:nvPr/>
        </p:nvSpPr>
        <p:spPr>
          <a:xfrm>
            <a:off x="1975104" y="3767328"/>
            <a:ext cx="4114800" cy="29260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5104" y="3767328"/>
            <a:ext cx="3849395" cy="29260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1928" y="3749040"/>
            <a:ext cx="2286000" cy="384048"/>
          </a:xfrm>
          <a:prstGeom prst="rect">
            <a:avLst/>
          </a:prstGeom>
          <a:noFill/>
        </p:spPr>
        <p:txBody>
          <a:bodyPr wrap="square" lIns="18288" rIns="18288" tIns="0" bIns="0">
            <a:spAutoFit/>
          </a:bodyPr>
          <a:lstStyle/>
          <a:p>
            <a:pPr>
              <a:spcAft>
                <a:spcPts val="200"/>
              </a:spcAft>
              <a:defRPr sz="2000" b="0">
                <a:solidFill>
                  <a:srgbClr val="173D6A"/>
                </a:solidFill>
                <a:latin typeface="Calibri"/>
              </a:defRPr>
            </a:pPr>
            <a:r>
              <a:t>93.55%  (29/31)</a:t>
            </a:r>
          </a:p>
        </p:txBody>
      </p:sp>
      <p:sp>
        <p:nvSpPr>
          <p:cNvPr id="23" name="TextBox 22"/>
          <p:cNvSpPr txBox="1"/>
          <p:nvPr/>
        </p:nvSpPr>
        <p:spPr>
          <a:xfrm>
            <a:off x="566928" y="4370832"/>
            <a:ext cx="1325880" cy="347472"/>
          </a:xfrm>
          <a:prstGeom prst="rect">
            <a:avLst/>
          </a:prstGeom>
          <a:noFill/>
        </p:spPr>
        <p:txBody>
          <a:bodyPr wrap="square" lIns="18288" rIns="18288" tIns="0" bIns="0">
            <a:spAutoFit/>
          </a:bodyPr>
          <a:lstStyle/>
          <a:p>
            <a:pPr>
              <a:spcAft>
                <a:spcPts val="200"/>
              </a:spcAft>
              <a:defRPr sz="2000" b="1">
                <a:solidFill>
                  <a:srgbClr val="173D6A"/>
                </a:solidFill>
                <a:latin typeface="Calibri"/>
              </a:defRPr>
            </a:pPr>
            <a:r>
              <a:t>PFS</a:t>
            </a:r>
          </a:p>
        </p:txBody>
      </p:sp>
      <p:sp>
        <p:nvSpPr>
          <p:cNvPr id="24" name="Rectangle 23"/>
          <p:cNvSpPr/>
          <p:nvPr/>
        </p:nvSpPr>
        <p:spPr>
          <a:xfrm>
            <a:off x="1975104" y="4389120"/>
            <a:ext cx="4114800" cy="292608"/>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75104" y="4389120"/>
            <a:ext cx="3981891" cy="29260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1928" y="4370832"/>
            <a:ext cx="2286000" cy="384048"/>
          </a:xfrm>
          <a:prstGeom prst="rect">
            <a:avLst/>
          </a:prstGeom>
          <a:noFill/>
        </p:spPr>
        <p:txBody>
          <a:bodyPr wrap="square" lIns="18288" rIns="18288" tIns="0" bIns="0">
            <a:spAutoFit/>
          </a:bodyPr>
          <a:lstStyle/>
          <a:p>
            <a:pPr>
              <a:spcAft>
                <a:spcPts val="200"/>
              </a:spcAft>
              <a:defRPr sz="2000" b="0">
                <a:solidFill>
                  <a:srgbClr val="173D6A"/>
                </a:solidFill>
                <a:latin typeface="Calibri"/>
              </a:defRPr>
            </a:pPr>
            <a:r>
              <a:t>96.77%  (30/31)</a:t>
            </a:r>
          </a:p>
        </p:txBody>
      </p:sp>
      <p:sp>
        <p:nvSpPr>
          <p:cNvPr id="27" name="TextBox 26"/>
          <p:cNvSpPr txBox="1"/>
          <p:nvPr/>
        </p:nvSpPr>
        <p:spPr>
          <a:xfrm>
            <a:off x="8558784" y="2093976"/>
            <a:ext cx="3200400" cy="283464"/>
          </a:xfrm>
          <a:prstGeom prst="rect">
            <a:avLst/>
          </a:prstGeom>
          <a:noFill/>
        </p:spPr>
        <p:txBody>
          <a:bodyPr wrap="square" lIns="18288" rIns="18288" tIns="0" bIns="0">
            <a:spAutoFit/>
          </a:bodyPr>
          <a:lstStyle/>
          <a:p>
            <a:pPr>
              <a:spcAft>
                <a:spcPts val="200"/>
              </a:spcAft>
              <a:defRPr sz="1200" b="1">
                <a:solidFill>
                  <a:srgbClr val="0072BC"/>
                </a:solidFill>
                <a:latin typeface="Calibri"/>
              </a:defRPr>
            </a:pPr>
            <a:r>
              <a:t>CIPHER CONFUSION MATRIX</a:t>
            </a:r>
          </a:p>
        </p:txBody>
      </p:sp>
      <p:sp>
        <p:nvSpPr>
          <p:cNvPr id="28" name="TextBox 27"/>
          <p:cNvSpPr txBox="1"/>
          <p:nvPr/>
        </p:nvSpPr>
        <p:spPr>
          <a:xfrm>
            <a:off x="9308592" y="2560320"/>
            <a:ext cx="2011680" cy="274320"/>
          </a:xfrm>
          <a:prstGeom prst="rect">
            <a:avLst/>
          </a:prstGeom>
          <a:noFill/>
        </p:spPr>
        <p:txBody>
          <a:bodyPr wrap="square" lIns="18288" rIns="18288" tIns="0" bIns="0">
            <a:spAutoFit/>
          </a:bodyPr>
          <a:lstStyle/>
          <a:p>
            <a:pPr algn="ctr">
              <a:spcAft>
                <a:spcPts val="200"/>
              </a:spcAft>
              <a:defRPr sz="1400" b="0">
                <a:solidFill>
                  <a:srgbClr val="526778"/>
                </a:solidFill>
                <a:latin typeface="Calibri"/>
              </a:defRPr>
            </a:pPr>
            <a:r>
              <a:t>Predicted</a:t>
            </a:r>
          </a:p>
        </p:txBody>
      </p:sp>
      <p:sp>
        <p:nvSpPr>
          <p:cNvPr id="29" name="TextBox 28"/>
          <p:cNvSpPr txBox="1"/>
          <p:nvPr/>
        </p:nvSpPr>
        <p:spPr>
          <a:xfrm>
            <a:off x="9217152" y="2898648"/>
            <a:ext cx="2194560" cy="310896"/>
          </a:xfrm>
          <a:prstGeom prst="rect">
            <a:avLst/>
          </a:prstGeom>
          <a:noFill/>
        </p:spPr>
        <p:txBody>
          <a:bodyPr wrap="square" lIns="18288" rIns="18288" tIns="0" bIns="0">
            <a:spAutoFit/>
          </a:bodyPr>
          <a:lstStyle/>
          <a:p>
            <a:pPr>
              <a:spcAft>
                <a:spcPts val="200"/>
              </a:spcAft>
              <a:defRPr sz="1400" b="0">
                <a:solidFill>
                  <a:srgbClr val="173D6A"/>
                </a:solidFill>
                <a:latin typeface="Calibri"/>
              </a:defRPr>
            </a:pPr>
            <a:r>
              <a:t>AES128     AES256</a:t>
            </a:r>
          </a:p>
        </p:txBody>
      </p:sp>
      <p:sp>
        <p:nvSpPr>
          <p:cNvPr id="30" name="TextBox 29"/>
          <p:cNvSpPr txBox="1"/>
          <p:nvPr/>
        </p:nvSpPr>
        <p:spPr>
          <a:xfrm>
            <a:off x="8485632" y="3392424"/>
            <a:ext cx="841248" cy="274320"/>
          </a:xfrm>
          <a:prstGeom prst="rect">
            <a:avLst/>
          </a:prstGeom>
          <a:noFill/>
        </p:spPr>
        <p:txBody>
          <a:bodyPr wrap="square" lIns="18288" rIns="18288" tIns="0" bIns="0">
            <a:spAutoFit/>
          </a:bodyPr>
          <a:lstStyle/>
          <a:p>
            <a:pPr>
              <a:spcAft>
                <a:spcPts val="200"/>
              </a:spcAft>
              <a:defRPr sz="1300" b="0">
                <a:solidFill>
                  <a:srgbClr val="173D6A"/>
                </a:solidFill>
                <a:latin typeface="Calibri"/>
              </a:defRPr>
            </a:pPr>
            <a:r>
              <a:t>AES128</a:t>
            </a:r>
          </a:p>
        </p:txBody>
      </p:sp>
      <p:sp>
        <p:nvSpPr>
          <p:cNvPr id="31" name="Rectangle 30"/>
          <p:cNvSpPr/>
          <p:nvPr/>
        </p:nvSpPr>
        <p:spPr>
          <a:xfrm>
            <a:off x="9436608" y="3282696"/>
            <a:ext cx="859536" cy="530352"/>
          </a:xfrm>
          <a:prstGeom prst="rect">
            <a:avLst/>
          </a:prstGeom>
          <a:solidFill>
            <a:srgbClr val="CDE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36608" y="3374136"/>
            <a:ext cx="859536" cy="365760"/>
          </a:xfrm>
          <a:prstGeom prst="rect">
            <a:avLst/>
          </a:prstGeom>
          <a:noFill/>
        </p:spPr>
        <p:txBody>
          <a:bodyPr wrap="square" lIns="18288" rIns="18288" tIns="0" bIns="0">
            <a:spAutoFit/>
          </a:bodyPr>
          <a:lstStyle/>
          <a:p>
            <a:pPr algn="ctr">
              <a:spcAft>
                <a:spcPts val="200"/>
              </a:spcAft>
              <a:defRPr sz="2100" b="1">
                <a:solidFill>
                  <a:srgbClr val="173D6A"/>
                </a:solidFill>
                <a:latin typeface="Calibri"/>
              </a:defRPr>
            </a:pPr>
            <a:r>
              <a:t>6</a:t>
            </a:r>
          </a:p>
        </p:txBody>
      </p:sp>
      <p:sp>
        <p:nvSpPr>
          <p:cNvPr id="33" name="Rectangle 32"/>
          <p:cNvSpPr/>
          <p:nvPr/>
        </p:nvSpPr>
        <p:spPr>
          <a:xfrm>
            <a:off x="10369296" y="3282696"/>
            <a:ext cx="859536" cy="530352"/>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69296" y="3374136"/>
            <a:ext cx="859536" cy="365760"/>
          </a:xfrm>
          <a:prstGeom prst="rect">
            <a:avLst/>
          </a:prstGeom>
          <a:noFill/>
        </p:spPr>
        <p:txBody>
          <a:bodyPr wrap="square" lIns="18288" rIns="18288" tIns="0" bIns="0">
            <a:spAutoFit/>
          </a:bodyPr>
          <a:lstStyle/>
          <a:p>
            <a:pPr algn="ctr">
              <a:spcAft>
                <a:spcPts val="200"/>
              </a:spcAft>
              <a:defRPr sz="2100" b="1">
                <a:solidFill>
                  <a:srgbClr val="173D6A"/>
                </a:solidFill>
                <a:latin typeface="Calibri"/>
              </a:defRPr>
            </a:pPr>
            <a:r>
              <a:t>7</a:t>
            </a:r>
          </a:p>
        </p:txBody>
      </p:sp>
      <p:sp>
        <p:nvSpPr>
          <p:cNvPr id="35" name="TextBox 34"/>
          <p:cNvSpPr txBox="1"/>
          <p:nvPr/>
        </p:nvSpPr>
        <p:spPr>
          <a:xfrm>
            <a:off x="8485632" y="3986784"/>
            <a:ext cx="841248" cy="274320"/>
          </a:xfrm>
          <a:prstGeom prst="rect">
            <a:avLst/>
          </a:prstGeom>
          <a:noFill/>
        </p:spPr>
        <p:txBody>
          <a:bodyPr wrap="square" lIns="18288" rIns="18288" tIns="0" bIns="0">
            <a:spAutoFit/>
          </a:bodyPr>
          <a:lstStyle/>
          <a:p>
            <a:pPr>
              <a:spcAft>
                <a:spcPts val="200"/>
              </a:spcAft>
              <a:defRPr sz="1300" b="0">
                <a:solidFill>
                  <a:srgbClr val="173D6A"/>
                </a:solidFill>
                <a:latin typeface="Calibri"/>
              </a:defRPr>
            </a:pPr>
            <a:r>
              <a:t>AES256</a:t>
            </a:r>
          </a:p>
        </p:txBody>
      </p:sp>
      <p:sp>
        <p:nvSpPr>
          <p:cNvPr id="36" name="Rectangle 35"/>
          <p:cNvSpPr/>
          <p:nvPr/>
        </p:nvSpPr>
        <p:spPr>
          <a:xfrm>
            <a:off x="9436608" y="3877056"/>
            <a:ext cx="859536" cy="530352"/>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36608" y="3968496"/>
            <a:ext cx="859536" cy="365760"/>
          </a:xfrm>
          <a:prstGeom prst="rect">
            <a:avLst/>
          </a:prstGeom>
          <a:noFill/>
        </p:spPr>
        <p:txBody>
          <a:bodyPr wrap="square" lIns="18288" rIns="18288" tIns="0" bIns="0">
            <a:spAutoFit/>
          </a:bodyPr>
          <a:lstStyle/>
          <a:p>
            <a:pPr algn="ctr">
              <a:spcAft>
                <a:spcPts val="200"/>
              </a:spcAft>
              <a:defRPr sz="2100" b="1">
                <a:solidFill>
                  <a:srgbClr val="173D6A"/>
                </a:solidFill>
                <a:latin typeface="Calibri"/>
              </a:defRPr>
            </a:pPr>
            <a:r>
              <a:t>5</a:t>
            </a:r>
          </a:p>
        </p:txBody>
      </p:sp>
      <p:sp>
        <p:nvSpPr>
          <p:cNvPr id="38" name="Rectangle 37"/>
          <p:cNvSpPr/>
          <p:nvPr/>
        </p:nvSpPr>
        <p:spPr>
          <a:xfrm>
            <a:off x="10369296" y="3877056"/>
            <a:ext cx="859536" cy="530352"/>
          </a:xfrm>
          <a:prstGeom prst="rect">
            <a:avLst/>
          </a:prstGeom>
          <a:solidFill>
            <a:srgbClr val="CDE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69296" y="3968496"/>
            <a:ext cx="859536" cy="365760"/>
          </a:xfrm>
          <a:prstGeom prst="rect">
            <a:avLst/>
          </a:prstGeom>
          <a:noFill/>
        </p:spPr>
        <p:txBody>
          <a:bodyPr wrap="square" lIns="18288" rIns="18288" tIns="0" bIns="0">
            <a:spAutoFit/>
          </a:bodyPr>
          <a:lstStyle/>
          <a:p>
            <a:pPr algn="ctr">
              <a:spcAft>
                <a:spcPts val="200"/>
              </a:spcAft>
              <a:defRPr sz="2100" b="1">
                <a:solidFill>
                  <a:srgbClr val="173D6A"/>
                </a:solidFill>
                <a:latin typeface="Calibri"/>
              </a:defRPr>
            </a:pPr>
            <a:r>
              <a:t>13</a:t>
            </a:r>
          </a:p>
        </p:txBody>
      </p:sp>
      <p:sp>
        <p:nvSpPr>
          <p:cNvPr id="40" name="TextBox 39"/>
          <p:cNvSpPr txBox="1"/>
          <p:nvPr/>
        </p:nvSpPr>
        <p:spPr>
          <a:xfrm>
            <a:off x="8741664" y="4645152"/>
            <a:ext cx="2743200" cy="301752"/>
          </a:xfrm>
          <a:prstGeom prst="rect">
            <a:avLst/>
          </a:prstGeom>
          <a:noFill/>
        </p:spPr>
        <p:txBody>
          <a:bodyPr wrap="square" lIns="18288" rIns="18288" tIns="0" bIns="0">
            <a:spAutoFit/>
          </a:bodyPr>
          <a:lstStyle/>
          <a:p>
            <a:pPr>
              <a:spcAft>
                <a:spcPts val="200"/>
              </a:spcAft>
              <a:defRPr sz="1300" b="0">
                <a:solidFill>
                  <a:srgbClr val="526778"/>
                </a:solidFill>
                <a:latin typeface="Calibri"/>
              </a:defRPr>
            </a:pPr>
            <a:r>
              <a:t>Rows = actual labels</a:t>
            </a:r>
          </a:p>
        </p:txBody>
      </p:sp>
      <p:sp>
        <p:nvSpPr>
          <p:cNvPr id="41" name="TextBox 40"/>
          <p:cNvSpPr txBox="1"/>
          <p:nvPr/>
        </p:nvSpPr>
        <p:spPr>
          <a:xfrm>
            <a:off x="594360" y="5248656"/>
            <a:ext cx="2743200" cy="365760"/>
          </a:xfrm>
          <a:prstGeom prst="rect">
            <a:avLst/>
          </a:prstGeom>
          <a:noFill/>
        </p:spPr>
        <p:txBody>
          <a:bodyPr wrap="square" lIns="18288" rIns="18288" tIns="0" bIns="0">
            <a:spAutoFit/>
          </a:bodyPr>
          <a:lstStyle/>
          <a:p>
            <a:pPr>
              <a:spcAft>
                <a:spcPts val="200"/>
              </a:spcAft>
              <a:defRPr sz="1900" b="1">
                <a:solidFill>
                  <a:srgbClr val="C77823"/>
                </a:solidFill>
                <a:latin typeface="Calibri"/>
              </a:defRPr>
            </a:pPr>
            <a:r>
              <a:t>Validation boundary</a:t>
            </a:r>
          </a:p>
        </p:txBody>
      </p:sp>
      <p:sp>
        <p:nvSpPr>
          <p:cNvPr id="42" name="TextBox 41"/>
          <p:cNvSpPr txBox="1"/>
          <p:nvPr/>
        </p:nvSpPr>
        <p:spPr>
          <a:xfrm>
            <a:off x="3246120" y="5157216"/>
            <a:ext cx="8348472" cy="713232"/>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Familiar lab configurations recur across the split.</a:t>
            </a:r>
          </a:p>
          <a:p>
            <a:pPr>
              <a:spcAft>
                <a:spcPts val="200"/>
              </a:spcAft>
              <a:defRPr sz="1900" b="0">
                <a:solidFill>
                  <a:srgbClr val="22384B"/>
                </a:solidFill>
                <a:latin typeface="Calibri"/>
              </a:defRPr>
            </a:pPr>
            <a:r>
              <a:t>No external-network validation or calibrated confidence yet.</a:t>
            </a:r>
          </a:p>
        </p:txBody>
      </p:sp>
      <p:sp>
        <p:nvSpPr>
          <p:cNvPr id="43" name="Rounded Rectangle 42"/>
          <p:cNvSpPr/>
          <p:nvPr/>
        </p:nvSpPr>
        <p:spPr>
          <a:xfrm>
            <a:off x="502920" y="5925312"/>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 y="6007608"/>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Software checks: server 55/55 and FastAPI 22/22 pass; frontend 17/19 pass (2 report-text expectations fail).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08 / SECURITY ASSESSMENT ENGINE</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Security scoring keeps risk and evidence separate</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src/utils/securityAuditor.ts; backend/app/ml_assessment.py; evidence/sample_assessment.json.</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09</a:t>
            </a:r>
          </a:p>
        </p:txBody>
      </p:sp>
      <p:sp>
        <p:nvSpPr>
          <p:cNvPr id="10" name="Rounded Rectangle 9"/>
          <p:cNvSpPr/>
          <p:nvPr/>
        </p:nvSpPr>
        <p:spPr>
          <a:xfrm>
            <a:off x="548640" y="1856231"/>
            <a:ext cx="3465576" cy="12527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56231"/>
            <a:ext cx="50292" cy="125272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02536"/>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Observed setting</a:t>
            </a:r>
          </a:p>
        </p:txBody>
      </p:sp>
      <p:sp>
        <p:nvSpPr>
          <p:cNvPr id="13" name="TextBox 12"/>
          <p:cNvSpPr txBox="1"/>
          <p:nvPr/>
        </p:nvSpPr>
        <p:spPr>
          <a:xfrm>
            <a:off x="713232" y="2514600"/>
            <a:ext cx="3145536" cy="521208"/>
          </a:xfrm>
          <a:prstGeom prst="rect">
            <a:avLst/>
          </a:prstGeom>
          <a:noFill/>
        </p:spPr>
        <p:txBody>
          <a:bodyPr wrap="square" lIns="18288" rIns="18288" tIns="0" bIns="0">
            <a:spAutoFit/>
          </a:bodyPr>
          <a:lstStyle/>
          <a:p>
            <a:pPr>
              <a:spcAft>
                <a:spcPts val="200"/>
              </a:spcAft>
              <a:defRPr sz="2100" b="0">
                <a:solidFill>
                  <a:srgbClr val="22384B"/>
                </a:solidFill>
                <a:latin typeface="Calibri"/>
              </a:defRPr>
            </a:pPr>
            <a:r>
              <a:t>AES-CBC</a:t>
            </a:r>
          </a:p>
        </p:txBody>
      </p:sp>
      <p:cxnSp>
        <p:nvCxnSpPr>
          <p:cNvPr id="14" name="Connector 13"/>
          <p:cNvCxnSpPr/>
          <p:nvPr/>
        </p:nvCxnSpPr>
        <p:spPr>
          <a:xfrm>
            <a:off x="4059935" y="2487168"/>
            <a:ext cx="256033"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61688" y="1856231"/>
            <a:ext cx="3465576" cy="12527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1856231"/>
            <a:ext cx="50292" cy="125272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2002536"/>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Implemented rule</a:t>
            </a:r>
          </a:p>
        </p:txBody>
      </p:sp>
      <p:sp>
        <p:nvSpPr>
          <p:cNvPr id="18" name="TextBox 17"/>
          <p:cNvSpPr txBox="1"/>
          <p:nvPr/>
        </p:nvSpPr>
        <p:spPr>
          <a:xfrm>
            <a:off x="4526279" y="2514600"/>
            <a:ext cx="3145536" cy="521208"/>
          </a:xfrm>
          <a:prstGeom prst="rect">
            <a:avLst/>
          </a:prstGeom>
          <a:noFill/>
        </p:spPr>
        <p:txBody>
          <a:bodyPr wrap="square" lIns="18288" rIns="18288" tIns="0" bIns="0">
            <a:spAutoFit/>
          </a:bodyPr>
          <a:lstStyle/>
          <a:p>
            <a:pPr>
              <a:spcAft>
                <a:spcPts val="200"/>
              </a:spcAft>
              <a:defRPr sz="2100" b="0">
                <a:solidFill>
                  <a:srgbClr val="22384B"/>
                </a:solidFill>
                <a:latin typeface="Calibri"/>
              </a:defRPr>
            </a:pPr>
            <a:r>
              <a:t>Prefer AEAD</a:t>
            </a:r>
          </a:p>
        </p:txBody>
      </p:sp>
      <p:cxnSp>
        <p:nvCxnSpPr>
          <p:cNvPr id="19" name="Connector 18"/>
          <p:cNvCxnSpPr/>
          <p:nvPr/>
        </p:nvCxnSpPr>
        <p:spPr>
          <a:xfrm>
            <a:off x="7872983" y="2487168"/>
            <a:ext cx="256033"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74736" y="1856231"/>
            <a:ext cx="3465576" cy="125272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4736" y="1856231"/>
            <a:ext cx="50292" cy="125272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002536"/>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Finding + evidence</a:t>
            </a:r>
          </a:p>
        </p:txBody>
      </p:sp>
      <p:sp>
        <p:nvSpPr>
          <p:cNvPr id="23" name="TextBox 22"/>
          <p:cNvSpPr txBox="1"/>
          <p:nvPr/>
        </p:nvSpPr>
        <p:spPr>
          <a:xfrm>
            <a:off x="8339327" y="2514600"/>
            <a:ext cx="3145536" cy="521208"/>
          </a:xfrm>
          <a:prstGeom prst="rect">
            <a:avLst/>
          </a:prstGeom>
          <a:noFill/>
        </p:spPr>
        <p:txBody>
          <a:bodyPr wrap="square" lIns="18288" rIns="18288" tIns="0" bIns="0">
            <a:spAutoFit/>
          </a:bodyPr>
          <a:lstStyle/>
          <a:p>
            <a:pPr>
              <a:spcAft>
                <a:spcPts val="200"/>
              </a:spcAft>
              <a:defRPr sz="2100" b="0">
                <a:solidFill>
                  <a:srgbClr val="22384B"/>
                </a:solidFill>
                <a:latin typeface="Calibri"/>
              </a:defRPr>
            </a:pPr>
            <a:r>
              <a:t>Low · penalty 10</a:t>
            </a:r>
          </a:p>
        </p:txBody>
      </p:sp>
      <p:sp>
        <p:nvSpPr>
          <p:cNvPr id="24" name="Rounded Rectangle 23"/>
          <p:cNvSpPr/>
          <p:nvPr/>
        </p:nvSpPr>
        <p:spPr>
          <a:xfrm>
            <a:off x="548640" y="3602736"/>
            <a:ext cx="3465576" cy="11704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3730752"/>
            <a:ext cx="3108960" cy="475488"/>
          </a:xfrm>
          <a:prstGeom prst="rect">
            <a:avLst/>
          </a:prstGeom>
          <a:noFill/>
        </p:spPr>
        <p:txBody>
          <a:bodyPr wrap="square" lIns="18288" rIns="18288" tIns="0" bIns="0">
            <a:spAutoFit/>
          </a:bodyPr>
          <a:lstStyle/>
          <a:p>
            <a:pPr>
              <a:spcAft>
                <a:spcPts val="200"/>
              </a:spcAft>
              <a:defRPr sz="3000" b="1">
                <a:solidFill>
                  <a:srgbClr val="C77823"/>
                </a:solidFill>
                <a:latin typeface="Calibri"/>
              </a:defRPr>
            </a:pPr>
            <a:r>
              <a:t>10 / 100</a:t>
            </a:r>
          </a:p>
        </p:txBody>
      </p:sp>
      <p:sp>
        <p:nvSpPr>
          <p:cNvPr id="26" name="TextBox 25"/>
          <p:cNvSpPr txBox="1"/>
          <p:nvPr/>
        </p:nvSpPr>
        <p:spPr>
          <a:xfrm>
            <a:off x="722376" y="4334256"/>
            <a:ext cx="3136392" cy="310896"/>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Observed rule penalty</a:t>
            </a:r>
          </a:p>
        </p:txBody>
      </p:sp>
      <p:sp>
        <p:nvSpPr>
          <p:cNvPr id="27" name="Rounded Rectangle 26"/>
          <p:cNvSpPr/>
          <p:nvPr/>
        </p:nvSpPr>
        <p:spPr>
          <a:xfrm>
            <a:off x="4361688" y="3602736"/>
            <a:ext cx="3465576" cy="11704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35424" y="3730752"/>
            <a:ext cx="3108960" cy="475488"/>
          </a:xfrm>
          <a:prstGeom prst="rect">
            <a:avLst/>
          </a:prstGeom>
          <a:noFill/>
        </p:spPr>
        <p:txBody>
          <a:bodyPr wrap="square" lIns="18288" rIns="18288" tIns="0" bIns="0">
            <a:spAutoFit/>
          </a:bodyPr>
          <a:lstStyle/>
          <a:p>
            <a:pPr>
              <a:spcAft>
                <a:spcPts val="200"/>
              </a:spcAft>
              <a:defRPr sz="3000" b="1">
                <a:solidFill>
                  <a:srgbClr val="0072BC"/>
                </a:solidFill>
                <a:latin typeface="Calibri"/>
              </a:defRPr>
            </a:pPr>
            <a:r>
              <a:t>60%</a:t>
            </a:r>
          </a:p>
        </p:txBody>
      </p:sp>
      <p:sp>
        <p:nvSpPr>
          <p:cNvPr id="29" name="TextBox 28"/>
          <p:cNvSpPr txBox="1"/>
          <p:nvPr/>
        </p:nvSpPr>
        <p:spPr>
          <a:xfrm>
            <a:off x="4535424" y="4334256"/>
            <a:ext cx="3136392" cy="310896"/>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Evidence coverage</a:t>
            </a:r>
          </a:p>
        </p:txBody>
      </p:sp>
      <p:sp>
        <p:nvSpPr>
          <p:cNvPr id="30" name="Rounded Rectangle 29"/>
          <p:cNvSpPr/>
          <p:nvPr/>
        </p:nvSpPr>
        <p:spPr>
          <a:xfrm>
            <a:off x="8174736" y="3602736"/>
            <a:ext cx="3465576" cy="117043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1" y="3730752"/>
            <a:ext cx="3108960" cy="475488"/>
          </a:xfrm>
          <a:prstGeom prst="rect">
            <a:avLst/>
          </a:prstGeom>
          <a:noFill/>
        </p:spPr>
        <p:txBody>
          <a:bodyPr wrap="square" lIns="18288" rIns="18288" tIns="0" bIns="0">
            <a:spAutoFit/>
          </a:bodyPr>
          <a:lstStyle/>
          <a:p>
            <a:pPr>
              <a:spcAft>
                <a:spcPts val="200"/>
              </a:spcAft>
              <a:defRPr sz="3000" b="1">
                <a:solidFill>
                  <a:srgbClr val="173D6A"/>
                </a:solidFill>
                <a:latin typeface="Calibri"/>
              </a:defRPr>
            </a:pPr>
            <a:r>
              <a:t>54 / 100</a:t>
            </a:r>
          </a:p>
        </p:txBody>
      </p:sp>
      <p:sp>
        <p:nvSpPr>
          <p:cNvPr id="32" name="TextBox 31"/>
          <p:cNvSpPr txBox="1"/>
          <p:nvPr/>
        </p:nvSpPr>
        <p:spPr>
          <a:xfrm>
            <a:off x="8348471" y="4334256"/>
            <a:ext cx="3136392" cy="310896"/>
          </a:xfrm>
          <a:prstGeom prst="rect">
            <a:avLst/>
          </a:prstGeom>
          <a:noFill/>
        </p:spPr>
        <p:txBody>
          <a:bodyPr wrap="square" lIns="18288" rIns="18288" tIns="0" bIns="0">
            <a:spAutoFit/>
          </a:bodyPr>
          <a:lstStyle/>
          <a:p>
            <a:pPr>
              <a:spcAft>
                <a:spcPts val="200"/>
              </a:spcAft>
              <a:defRPr sz="1600" b="0">
                <a:solidFill>
                  <a:srgbClr val="526778"/>
                </a:solidFill>
                <a:latin typeface="Calibri"/>
              </a:defRPr>
            </a:pPr>
            <a:r>
              <a:t>Evidence-adjusted security score</a:t>
            </a:r>
          </a:p>
        </p:txBody>
      </p:sp>
      <p:sp>
        <p:nvSpPr>
          <p:cNvPr id="33" name="TextBox 32"/>
          <p:cNvSpPr txBox="1"/>
          <p:nvPr/>
        </p:nvSpPr>
        <p:spPr>
          <a:xfrm>
            <a:off x="594360" y="5138928"/>
            <a:ext cx="6583680" cy="365760"/>
          </a:xfrm>
          <a:prstGeom prst="rect">
            <a:avLst/>
          </a:prstGeom>
          <a:noFill/>
        </p:spPr>
        <p:txBody>
          <a:bodyPr wrap="square" lIns="18288" rIns="18288" tIns="0" bIns="0">
            <a:spAutoFit/>
          </a:bodyPr>
          <a:lstStyle/>
          <a:p>
            <a:pPr>
              <a:spcAft>
                <a:spcPts val="200"/>
              </a:spcAft>
              <a:defRPr sz="2200" b="1">
                <a:solidFill>
                  <a:srgbClr val="173D6A"/>
                </a:solidFill>
                <a:latin typeface="Calibri"/>
              </a:defRPr>
            </a:pPr>
            <a:r>
              <a:t>Sample calculation: (100 − 10) × 0.60 = 54</a:t>
            </a:r>
          </a:p>
        </p:txBody>
      </p:sp>
      <p:sp>
        <p:nvSpPr>
          <p:cNvPr id="34" name="TextBox 33"/>
          <p:cNvSpPr txBox="1"/>
          <p:nvPr/>
        </p:nvSpPr>
        <p:spPr>
          <a:xfrm>
            <a:off x="7498079" y="5166360"/>
            <a:ext cx="4114800" cy="365760"/>
          </a:xfrm>
          <a:prstGeom prst="rect">
            <a:avLst/>
          </a:prstGeom>
          <a:noFill/>
        </p:spPr>
        <p:txBody>
          <a:bodyPr wrap="square" lIns="18288" rIns="18288" tIns="0" bIns="0">
            <a:spAutoFit/>
          </a:bodyPr>
          <a:lstStyle/>
          <a:p>
            <a:pPr>
              <a:spcAft>
                <a:spcPts val="200"/>
              </a:spcAft>
              <a:defRPr sz="1800" b="0">
                <a:solidFill>
                  <a:srgbClr val="526778"/>
                </a:solidFill>
                <a:latin typeface="Calibri"/>
              </a:defRPr>
            </a:pPr>
            <a:r>
              <a:t>PFS • replay • lifetime: unknown</a:t>
            </a:r>
          </a:p>
        </p:txBody>
      </p:sp>
      <p:sp>
        <p:nvSpPr>
          <p:cNvPr id="35" name="Rounded Rectangle 34"/>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CBC is a hardening note, not proof of an exploit. ML-inferred findings and standards labels need confirmation.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09 / PRODUCT EVIDENCE</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A real dashboard exposes the evidence boundary</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Real project screenshot (cropped): demo/dark-analysis-preview.png. Controlled ICMP sample; external annotations.</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10</a:t>
            </a:r>
          </a:p>
        </p:txBody>
      </p:sp>
      <p:pic>
        <p:nvPicPr>
          <p:cNvPr id="10" name="Picture 9" descr="dark-analysis-preview.png"/>
          <p:cNvPicPr>
            <a:picLocks noChangeAspect="1"/>
          </p:cNvPicPr>
          <p:nvPr/>
        </p:nvPicPr>
        <p:blipFill>
          <a:blip r:embed="rId3"/>
          <a:srcRect t="10000"/>
          <a:stretch>
            <a:fillRect/>
          </a:stretch>
        </p:blipFill>
        <p:spPr>
          <a:xfrm>
            <a:off x="548640" y="1691640"/>
            <a:ext cx="7699248" cy="4330827"/>
          </a:xfrm>
          <a:prstGeom prst="rect">
            <a:avLst/>
          </a:prstGeom>
        </p:spPr>
      </p:pic>
      <p:sp>
        <p:nvSpPr>
          <p:cNvPr id="11" name="Rounded Rectangle 10"/>
          <p:cNvSpPr/>
          <p:nvPr/>
        </p:nvSpPr>
        <p:spPr>
          <a:xfrm>
            <a:off x="8503920" y="1764792"/>
            <a:ext cx="3136392" cy="8503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03920" y="1764792"/>
            <a:ext cx="50292" cy="8503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68512" y="1911095"/>
            <a:ext cx="2816352" cy="502920"/>
          </a:xfrm>
          <a:prstGeom prst="rect">
            <a:avLst/>
          </a:prstGeom>
          <a:noFill/>
        </p:spPr>
        <p:txBody>
          <a:bodyPr wrap="square" lIns="18288" rIns="18288" tIns="0" bIns="0">
            <a:spAutoFit/>
          </a:bodyPr>
          <a:lstStyle/>
          <a:p>
            <a:pPr>
              <a:spcAft>
                <a:spcPts val="200"/>
              </a:spcAft>
              <a:defRPr sz="1600" b="1">
                <a:solidFill>
                  <a:srgbClr val="0072BC"/>
                </a:solidFill>
                <a:latin typeface="Calibri"/>
              </a:defRPr>
            </a:pPr>
            <a:r>
              <a:t>01  Capture identity</a:t>
            </a:r>
          </a:p>
        </p:txBody>
      </p:sp>
      <p:sp>
        <p:nvSpPr>
          <p:cNvPr id="14" name="TextBox 13"/>
          <p:cNvSpPr txBox="1"/>
          <p:nvPr/>
        </p:nvSpPr>
        <p:spPr>
          <a:xfrm>
            <a:off x="8668512" y="2240280"/>
            <a:ext cx="2816352" cy="292608"/>
          </a:xfrm>
          <a:prstGeom prst="rect">
            <a:avLst/>
          </a:prstGeom>
          <a:noFill/>
        </p:spPr>
        <p:txBody>
          <a:bodyPr wrap="square" lIns="18288" rIns="18288" tIns="0" bIns="0">
            <a:spAutoFit/>
          </a:bodyPr>
          <a:lstStyle/>
          <a:p>
            <a:pPr>
              <a:spcAft>
                <a:spcPts val="200"/>
              </a:spcAft>
              <a:defRPr sz="1400" b="0">
                <a:solidFill>
                  <a:srgbClr val="22384B"/>
                </a:solidFill>
                <a:latin typeface="Calibri"/>
              </a:defRPr>
            </a:pPr>
            <a:r>
              <a:t>Uploaded file + 46 frames</a:t>
            </a:r>
          </a:p>
        </p:txBody>
      </p:sp>
      <p:sp>
        <p:nvSpPr>
          <p:cNvPr id="15" name="Rounded Rectangle 14"/>
          <p:cNvSpPr/>
          <p:nvPr/>
        </p:nvSpPr>
        <p:spPr>
          <a:xfrm>
            <a:off x="8503920" y="2724912"/>
            <a:ext cx="3136392" cy="8503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2724912"/>
            <a:ext cx="50292" cy="8503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68512" y="2871216"/>
            <a:ext cx="2816352" cy="502920"/>
          </a:xfrm>
          <a:prstGeom prst="rect">
            <a:avLst/>
          </a:prstGeom>
          <a:noFill/>
        </p:spPr>
        <p:txBody>
          <a:bodyPr wrap="square" lIns="18288" rIns="18288" tIns="0" bIns="0">
            <a:spAutoFit/>
          </a:bodyPr>
          <a:lstStyle/>
          <a:p>
            <a:pPr>
              <a:spcAft>
                <a:spcPts val="200"/>
              </a:spcAft>
              <a:defRPr sz="1600" b="1">
                <a:solidFill>
                  <a:srgbClr val="0072BC"/>
                </a:solidFill>
                <a:latin typeface="Calibri"/>
              </a:defRPr>
            </a:pPr>
            <a:r>
              <a:t>02  Observed settings</a:t>
            </a:r>
          </a:p>
        </p:txBody>
      </p:sp>
      <p:sp>
        <p:nvSpPr>
          <p:cNvPr id="18" name="TextBox 17"/>
          <p:cNvSpPr txBox="1"/>
          <p:nvPr/>
        </p:nvSpPr>
        <p:spPr>
          <a:xfrm>
            <a:off x="8668512" y="3200400"/>
            <a:ext cx="2816352" cy="292608"/>
          </a:xfrm>
          <a:prstGeom prst="rect">
            <a:avLst/>
          </a:prstGeom>
          <a:noFill/>
        </p:spPr>
        <p:txBody>
          <a:bodyPr wrap="square" lIns="18288" rIns="18288" tIns="0" bIns="0">
            <a:spAutoFit/>
          </a:bodyPr>
          <a:lstStyle/>
          <a:p>
            <a:pPr>
              <a:spcAft>
                <a:spcPts val="200"/>
              </a:spcAft>
              <a:defRPr sz="1400" b="0">
                <a:solidFill>
                  <a:srgbClr val="22384B"/>
                </a:solidFill>
                <a:latin typeface="Calibri"/>
              </a:defRPr>
            </a:pPr>
            <a:r>
              <a:t>AES-CBC · IKEv2 · DH14</a:t>
            </a:r>
          </a:p>
        </p:txBody>
      </p:sp>
      <p:sp>
        <p:nvSpPr>
          <p:cNvPr id="19" name="Rounded Rectangle 18"/>
          <p:cNvSpPr/>
          <p:nvPr/>
        </p:nvSpPr>
        <p:spPr>
          <a:xfrm>
            <a:off x="8503920" y="3685032"/>
            <a:ext cx="3136392" cy="8503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03920" y="3685032"/>
            <a:ext cx="50292" cy="8503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68512" y="3831336"/>
            <a:ext cx="2816352" cy="502920"/>
          </a:xfrm>
          <a:prstGeom prst="rect">
            <a:avLst/>
          </a:prstGeom>
          <a:noFill/>
        </p:spPr>
        <p:txBody>
          <a:bodyPr wrap="square" lIns="18288" rIns="18288" tIns="0" bIns="0">
            <a:spAutoFit/>
          </a:bodyPr>
          <a:lstStyle/>
          <a:p>
            <a:pPr>
              <a:spcAft>
                <a:spcPts val="200"/>
              </a:spcAft>
              <a:defRPr sz="1600" b="1">
                <a:solidFill>
                  <a:srgbClr val="0072BC"/>
                </a:solidFill>
                <a:latin typeface="Calibri"/>
              </a:defRPr>
            </a:pPr>
            <a:r>
              <a:t>03  Model confidence</a:t>
            </a:r>
          </a:p>
        </p:txBody>
      </p:sp>
      <p:sp>
        <p:nvSpPr>
          <p:cNvPr id="22" name="TextBox 21"/>
          <p:cNvSpPr txBox="1"/>
          <p:nvPr/>
        </p:nvSpPr>
        <p:spPr>
          <a:xfrm>
            <a:off x="8668512" y="4160520"/>
            <a:ext cx="2816352" cy="292608"/>
          </a:xfrm>
          <a:prstGeom prst="rect">
            <a:avLst/>
          </a:prstGeom>
          <a:noFill/>
        </p:spPr>
        <p:txBody>
          <a:bodyPr wrap="square" lIns="18288" rIns="18288" tIns="0" bIns="0">
            <a:spAutoFit/>
          </a:bodyPr>
          <a:lstStyle/>
          <a:p>
            <a:pPr>
              <a:spcAft>
                <a:spcPts val="200"/>
              </a:spcAft>
              <a:defRPr sz="1400" b="0">
                <a:solidFill>
                  <a:srgbClr val="22384B"/>
                </a:solidFill>
                <a:latin typeface="Calibri"/>
              </a:defRPr>
            </a:pPr>
            <a:r>
              <a:t>93% mean class probability</a:t>
            </a:r>
          </a:p>
        </p:txBody>
      </p:sp>
      <p:sp>
        <p:nvSpPr>
          <p:cNvPr id="23" name="Rounded Rectangle 22"/>
          <p:cNvSpPr/>
          <p:nvPr/>
        </p:nvSpPr>
        <p:spPr>
          <a:xfrm>
            <a:off x="8503920" y="4645152"/>
            <a:ext cx="3136392" cy="85039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03920" y="4645152"/>
            <a:ext cx="50292" cy="85039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68512" y="4791456"/>
            <a:ext cx="2816352" cy="502920"/>
          </a:xfrm>
          <a:prstGeom prst="rect">
            <a:avLst/>
          </a:prstGeom>
          <a:noFill/>
        </p:spPr>
        <p:txBody>
          <a:bodyPr wrap="square" lIns="18288" rIns="18288" tIns="0" bIns="0">
            <a:spAutoFit/>
          </a:bodyPr>
          <a:lstStyle/>
          <a:p>
            <a:pPr>
              <a:spcAft>
                <a:spcPts val="200"/>
              </a:spcAft>
              <a:defRPr sz="1600" b="1">
                <a:solidFill>
                  <a:srgbClr val="0072BC"/>
                </a:solidFill>
                <a:latin typeface="Calibri"/>
              </a:defRPr>
            </a:pPr>
            <a:r>
              <a:t>04  Finding + gaps</a:t>
            </a:r>
          </a:p>
        </p:txBody>
      </p:sp>
      <p:sp>
        <p:nvSpPr>
          <p:cNvPr id="26" name="TextBox 25"/>
          <p:cNvSpPr txBox="1"/>
          <p:nvPr/>
        </p:nvSpPr>
        <p:spPr>
          <a:xfrm>
            <a:off x="8668512" y="5120640"/>
            <a:ext cx="2816352" cy="292608"/>
          </a:xfrm>
          <a:prstGeom prst="rect">
            <a:avLst/>
          </a:prstGeom>
          <a:noFill/>
        </p:spPr>
        <p:txBody>
          <a:bodyPr wrap="square" lIns="18288" rIns="18288" tIns="0" bIns="0">
            <a:spAutoFit/>
          </a:bodyPr>
          <a:lstStyle/>
          <a:p>
            <a:pPr>
              <a:spcAft>
                <a:spcPts val="200"/>
              </a:spcAft>
              <a:defRPr sz="1400" b="0">
                <a:solidFill>
                  <a:srgbClr val="22384B"/>
                </a:solidFill>
                <a:latin typeface="Calibri"/>
              </a:defRPr>
            </a:pPr>
            <a:r>
              <a:t>10 risk · 60% evidence</a:t>
            </a:r>
          </a:p>
        </p:txBody>
      </p:sp>
      <p:sp>
        <p:nvSpPr>
          <p:cNvPr id="27" name="Rounded Rectangle 26"/>
          <p:cNvSpPr/>
          <p:nvPr/>
        </p:nvSpPr>
        <p:spPr>
          <a:xfrm>
            <a:off x="8503920" y="5660136"/>
            <a:ext cx="3136392" cy="576072"/>
          </a:xfrm>
          <a:prstGeom prst="roundRect">
            <a:avLst>
              <a:gd name="adj" fmla="val 12000"/>
            </a:avLst>
          </a:prstGeom>
          <a:solidFill>
            <a:srgbClr val="FF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41080" y="5742432"/>
            <a:ext cx="2862072" cy="457200"/>
          </a:xfrm>
          <a:prstGeom prst="rect">
            <a:avLst/>
          </a:prstGeom>
          <a:noFill/>
        </p:spPr>
        <p:txBody>
          <a:bodyPr wrap="square" lIns="18288" rIns="18288" tIns="0" bIns="0">
            <a:spAutoFit/>
          </a:bodyPr>
          <a:lstStyle/>
          <a:p>
            <a:pPr>
              <a:spcAft>
                <a:spcPts val="200"/>
              </a:spcAft>
              <a:defRPr sz="1350" b="1">
                <a:solidFill>
                  <a:srgbClr val="C77823"/>
                </a:solidFill>
                <a:latin typeface="Calibri"/>
              </a:defRPr>
            </a:pPr>
            <a:r>
              <a:t>VoIP is a heuristic guess.</a:t>
            </a:r>
          </a:p>
          <a:p>
            <a:pPr>
              <a:spcAft>
                <a:spcPts val="200"/>
              </a:spcAft>
              <a:defRPr sz="1350" b="1">
                <a:solidFill>
                  <a:srgbClr val="C77823"/>
                </a:solidFill>
                <a:latin typeface="Calibri"/>
              </a:defRPr>
            </a:pPr>
            <a:r>
              <a:t>This sample’s label is ICMP.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10 / END-TO-END DEMONSTRATION</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One capture, one traceable result</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Reproduced: evidence/sample_analysis.json + sample_assessment.json. Source PCAP and matching factory metadata are preserved.</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11</a:t>
            </a:r>
          </a:p>
        </p:txBody>
      </p:sp>
      <p:sp>
        <p:nvSpPr>
          <p:cNvPr id="10" name="Rounded Rectangle 9"/>
          <p:cNvSpPr/>
          <p:nvPr/>
        </p:nvSpPr>
        <p:spPr>
          <a:xfrm>
            <a:off x="566928" y="1737360"/>
            <a:ext cx="749808" cy="292608"/>
          </a:xfrm>
          <a:prstGeom prst="roundRect">
            <a:avLst>
              <a:gd name="adj" fmla="val 12000"/>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769363"/>
            <a:ext cx="621792" cy="237744"/>
          </a:xfrm>
          <a:prstGeom prst="rect">
            <a:avLst/>
          </a:prstGeom>
          <a:noFill/>
        </p:spPr>
        <p:txBody>
          <a:bodyPr wrap="square" lIns="18288" rIns="18288" tIns="0" bIns="0">
            <a:spAutoFit/>
          </a:bodyPr>
          <a:lstStyle/>
          <a:p>
            <a:pPr>
              <a:spcAft>
                <a:spcPts val="200"/>
              </a:spcAft>
              <a:defRPr sz="1050" b="1">
                <a:solidFill>
                  <a:srgbClr val="FFFFFF"/>
                </a:solidFill>
                <a:latin typeface="Calibri"/>
              </a:defRPr>
            </a:pPr>
            <a:r>
              <a:t>INPUT</a:t>
            </a:r>
          </a:p>
        </p:txBody>
      </p:sp>
      <p:sp>
        <p:nvSpPr>
          <p:cNvPr id="12" name="TextBox 11"/>
          <p:cNvSpPr txBox="1"/>
          <p:nvPr/>
        </p:nvSpPr>
        <p:spPr>
          <a:xfrm>
            <a:off x="1508760" y="1737360"/>
            <a:ext cx="9966960" cy="393192"/>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AES128_SHA256_DH14_NOPFS_ICMP_rep01.pcap</a:t>
            </a:r>
          </a:p>
        </p:txBody>
      </p:sp>
      <p:sp>
        <p:nvSpPr>
          <p:cNvPr id="13" name="TextBox 12"/>
          <p:cNvSpPr txBox="1"/>
          <p:nvPr/>
        </p:nvSpPr>
        <p:spPr>
          <a:xfrm>
            <a:off x="576072" y="2313432"/>
            <a:ext cx="10972800" cy="438912"/>
          </a:xfrm>
          <a:prstGeom prst="rect">
            <a:avLst/>
          </a:prstGeom>
          <a:noFill/>
        </p:spPr>
        <p:txBody>
          <a:bodyPr wrap="square" lIns="18288" rIns="18288" tIns="0" bIns="0">
            <a:spAutoFit/>
          </a:bodyPr>
          <a:lstStyle/>
          <a:p>
            <a:pPr>
              <a:spcAft>
                <a:spcPts val="200"/>
              </a:spcAft>
              <a:defRPr sz="2200" b="0">
                <a:solidFill>
                  <a:srgbClr val="0072BC"/>
                </a:solidFill>
                <a:latin typeface="Calibri"/>
              </a:defRPr>
            </a:pPr>
            <a:r>
              <a:t>46 frames  →  6 IKE + 40 ESP  →  extraction + inference + assessment</a:t>
            </a:r>
          </a:p>
        </p:txBody>
      </p:sp>
      <p:sp>
        <p:nvSpPr>
          <p:cNvPr id="14" name="Rounded Rectangle 13"/>
          <p:cNvSpPr/>
          <p:nvPr/>
        </p:nvSpPr>
        <p:spPr>
          <a:xfrm>
            <a:off x="548640" y="3017520"/>
            <a:ext cx="3465576" cy="22860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17520"/>
            <a:ext cx="50292" cy="2286000"/>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163824"/>
            <a:ext cx="3145536" cy="502920"/>
          </a:xfrm>
          <a:prstGeom prst="rect">
            <a:avLst/>
          </a:prstGeom>
          <a:noFill/>
        </p:spPr>
        <p:txBody>
          <a:bodyPr wrap="square" lIns="18288" rIns="18288" tIns="0" bIns="0">
            <a:spAutoFit/>
          </a:bodyPr>
          <a:lstStyle/>
          <a:p>
            <a:pPr>
              <a:spcAft>
                <a:spcPts val="200"/>
              </a:spcAft>
              <a:defRPr sz="2100" b="1">
                <a:solidFill>
                  <a:srgbClr val="173D6A"/>
                </a:solidFill>
                <a:latin typeface="Calibri"/>
              </a:defRPr>
            </a:pPr>
            <a:r>
              <a:t>Packet-observed</a:t>
            </a:r>
          </a:p>
        </p:txBody>
      </p:sp>
      <p:sp>
        <p:nvSpPr>
          <p:cNvPr id="17" name="TextBox 16"/>
          <p:cNvSpPr txBox="1"/>
          <p:nvPr/>
        </p:nvSpPr>
        <p:spPr>
          <a:xfrm>
            <a:off x="713232" y="3675887"/>
            <a:ext cx="3145536" cy="1554480"/>
          </a:xfrm>
          <a:prstGeom prst="rect">
            <a:avLst/>
          </a:prstGeom>
          <a:noFill/>
        </p:spPr>
        <p:txBody>
          <a:bodyPr wrap="square" lIns="18288" rIns="18288" tIns="0" bIns="0">
            <a:spAutoFit/>
          </a:bodyPr>
          <a:lstStyle/>
          <a:p>
            <a:pPr>
              <a:spcAft>
                <a:spcPts val="200"/>
              </a:spcAft>
              <a:defRPr sz="2100" b="0">
                <a:solidFill>
                  <a:srgbClr val="22384B"/>
                </a:solidFill>
                <a:latin typeface="Calibri"/>
              </a:defRPr>
            </a:pPr>
            <a:r>
              <a:t>IKEv2</a:t>
            </a:r>
          </a:p>
          <a:p>
            <a:pPr>
              <a:spcAft>
                <a:spcPts val="200"/>
              </a:spcAft>
              <a:defRPr sz="2100" b="0">
                <a:solidFill>
                  <a:srgbClr val="22384B"/>
                </a:solidFill>
                <a:latin typeface="Calibri"/>
              </a:defRPr>
            </a:pPr>
            <a:r>
              <a:t>AES-CBC · 128-bit</a:t>
            </a:r>
          </a:p>
          <a:p>
            <a:pPr>
              <a:spcAft>
                <a:spcPts val="200"/>
              </a:spcAft>
              <a:defRPr sz="2100" b="0">
                <a:solidFill>
                  <a:srgbClr val="22384B"/>
                </a:solidFill>
                <a:latin typeface="Calibri"/>
              </a:defRPr>
            </a:pPr>
            <a:r>
              <a:t>SHA2-256 integrity</a:t>
            </a:r>
          </a:p>
          <a:p>
            <a:pPr>
              <a:spcAft>
                <a:spcPts val="200"/>
              </a:spcAft>
              <a:defRPr sz="2100" b="0">
                <a:solidFill>
                  <a:srgbClr val="22384B"/>
                </a:solidFill>
                <a:latin typeface="Calibri"/>
              </a:defRPr>
            </a:pPr>
            <a:r>
              <a:t>DH Group 14</a:t>
            </a:r>
          </a:p>
        </p:txBody>
      </p:sp>
      <p:sp>
        <p:nvSpPr>
          <p:cNvPr id="18" name="Rounded Rectangle 17"/>
          <p:cNvSpPr/>
          <p:nvPr/>
        </p:nvSpPr>
        <p:spPr>
          <a:xfrm>
            <a:off x="4370832" y="3017520"/>
            <a:ext cx="3465576" cy="22860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3017520"/>
            <a:ext cx="50292" cy="2286000"/>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3163824"/>
            <a:ext cx="3145536" cy="502920"/>
          </a:xfrm>
          <a:prstGeom prst="rect">
            <a:avLst/>
          </a:prstGeom>
          <a:noFill/>
        </p:spPr>
        <p:txBody>
          <a:bodyPr wrap="square" lIns="18288" rIns="18288" tIns="0" bIns="0">
            <a:spAutoFit/>
          </a:bodyPr>
          <a:lstStyle/>
          <a:p>
            <a:pPr>
              <a:spcAft>
                <a:spcPts val="200"/>
              </a:spcAft>
              <a:defRPr sz="2100" b="1">
                <a:solidFill>
                  <a:srgbClr val="0072BC"/>
                </a:solidFill>
                <a:latin typeface="Calibri"/>
              </a:defRPr>
            </a:pPr>
            <a:r>
              <a:t>Model estimates</a:t>
            </a:r>
          </a:p>
        </p:txBody>
      </p:sp>
      <p:sp>
        <p:nvSpPr>
          <p:cNvPr id="21" name="TextBox 20"/>
          <p:cNvSpPr txBox="1"/>
          <p:nvPr/>
        </p:nvSpPr>
        <p:spPr>
          <a:xfrm>
            <a:off x="4535424" y="3675887"/>
            <a:ext cx="3145536" cy="1554480"/>
          </a:xfrm>
          <a:prstGeom prst="rect">
            <a:avLst/>
          </a:prstGeom>
          <a:noFill/>
        </p:spPr>
        <p:txBody>
          <a:bodyPr wrap="square" lIns="18288" rIns="18288" tIns="0" bIns="0">
            <a:spAutoFit/>
          </a:bodyPr>
          <a:lstStyle/>
          <a:p>
            <a:pPr>
              <a:spcAft>
                <a:spcPts val="200"/>
              </a:spcAft>
              <a:defRPr sz="2100" b="0">
                <a:solidFill>
                  <a:srgbClr val="22384B"/>
                </a:solidFill>
                <a:latin typeface="Calibri"/>
              </a:defRPr>
            </a:pPr>
            <a:r>
              <a:t>AES128      73%</a:t>
            </a:r>
          </a:p>
          <a:p>
            <a:pPr>
              <a:spcAft>
                <a:spcPts val="200"/>
              </a:spcAft>
              <a:defRPr sz="2100" b="0">
                <a:solidFill>
                  <a:srgbClr val="22384B"/>
                </a:solidFill>
                <a:latin typeface="Calibri"/>
              </a:defRPr>
            </a:pPr>
            <a:r>
              <a:t>SHA256    100%</a:t>
            </a:r>
          </a:p>
          <a:p>
            <a:pPr>
              <a:spcAft>
                <a:spcPts val="200"/>
              </a:spcAft>
              <a:defRPr sz="2100" b="0">
                <a:solidFill>
                  <a:srgbClr val="22384B"/>
                </a:solidFill>
                <a:latin typeface="Calibri"/>
              </a:defRPr>
            </a:pPr>
            <a:r>
              <a:t>DH14         100%</a:t>
            </a:r>
          </a:p>
          <a:p>
            <a:pPr>
              <a:spcAft>
                <a:spcPts val="200"/>
              </a:spcAft>
              <a:defRPr sz="2100" b="0">
                <a:solidFill>
                  <a:srgbClr val="22384B"/>
                </a:solidFill>
                <a:latin typeface="Calibri"/>
              </a:defRPr>
            </a:pPr>
            <a:r>
              <a:t>NOPFS      100%</a:t>
            </a:r>
          </a:p>
        </p:txBody>
      </p:sp>
      <p:sp>
        <p:nvSpPr>
          <p:cNvPr id="22" name="Rounded Rectangle 21"/>
          <p:cNvSpPr/>
          <p:nvPr/>
        </p:nvSpPr>
        <p:spPr>
          <a:xfrm>
            <a:off x="8193024" y="3017520"/>
            <a:ext cx="3447288" cy="2286000"/>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93024" y="3017520"/>
            <a:ext cx="50292" cy="2286000"/>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6" y="3163824"/>
            <a:ext cx="3127248" cy="502920"/>
          </a:xfrm>
          <a:prstGeom prst="rect">
            <a:avLst/>
          </a:prstGeom>
          <a:noFill/>
        </p:spPr>
        <p:txBody>
          <a:bodyPr wrap="square" lIns="18288" rIns="18288" tIns="0" bIns="0">
            <a:spAutoFit/>
          </a:bodyPr>
          <a:lstStyle/>
          <a:p>
            <a:pPr>
              <a:spcAft>
                <a:spcPts val="200"/>
              </a:spcAft>
              <a:defRPr sz="2100" b="1">
                <a:solidFill>
                  <a:srgbClr val="45ADC4"/>
                </a:solidFill>
                <a:latin typeface="Calibri"/>
              </a:defRPr>
            </a:pPr>
            <a:r>
              <a:t>Rule outputs</a:t>
            </a:r>
          </a:p>
        </p:txBody>
      </p:sp>
      <p:sp>
        <p:nvSpPr>
          <p:cNvPr id="25" name="TextBox 24"/>
          <p:cNvSpPr txBox="1"/>
          <p:nvPr/>
        </p:nvSpPr>
        <p:spPr>
          <a:xfrm>
            <a:off x="8357616" y="3675887"/>
            <a:ext cx="3127248" cy="1554480"/>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CBC hardening note</a:t>
            </a:r>
          </a:p>
          <a:p>
            <a:pPr>
              <a:spcAft>
                <a:spcPts val="200"/>
              </a:spcAft>
              <a:defRPr sz="1900" b="0">
                <a:solidFill>
                  <a:srgbClr val="22384B"/>
                </a:solidFill>
                <a:latin typeface="Calibri"/>
              </a:defRPr>
            </a:pPr>
            <a:r>
              <a:t>Risk penalty: 10 / 100</a:t>
            </a:r>
          </a:p>
          <a:p>
            <a:pPr>
              <a:spcAft>
                <a:spcPts val="200"/>
              </a:spcAft>
              <a:defRPr sz="1900" b="0">
                <a:solidFill>
                  <a:srgbClr val="22384B"/>
                </a:solidFill>
                <a:latin typeface="Calibri"/>
              </a:defRPr>
            </a:pPr>
            <a:r>
              <a:t>Evidence coverage: 60%</a:t>
            </a:r>
          </a:p>
          <a:p>
            <a:pPr>
              <a:spcAft>
                <a:spcPts val="200"/>
              </a:spcAft>
              <a:defRPr sz="1900" b="0">
                <a:solidFill>
                  <a:srgbClr val="22384B"/>
                </a:solidFill>
                <a:latin typeface="Calibri"/>
              </a:defRPr>
            </a:pPr>
            <a:r>
              <a:t>Security score: 54 / 100</a:t>
            </a:r>
          </a:p>
        </p:txBody>
      </p:sp>
      <p:sp>
        <p:nvSpPr>
          <p:cNvPr id="26" name="Rounded Rectangle 25"/>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Observed PFS and mode stay unknown. NOPFS is a model estimate; 100% model probability is not certainty.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11 / FEASIBILITY AND DEPLOYMENT</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Local deployment is feasible; hardening remains</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Sources: package.json; server/{api_server,telemetry,live_capture,repository}.py; Dockerfile; docker-compose.yml.</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12</a:t>
            </a:r>
          </a:p>
        </p:txBody>
      </p:sp>
      <p:sp>
        <p:nvSpPr>
          <p:cNvPr id="10" name="Rounded Rectangle 9"/>
          <p:cNvSpPr/>
          <p:nvPr/>
        </p:nvSpPr>
        <p:spPr>
          <a:xfrm>
            <a:off x="548640" y="1801368"/>
            <a:ext cx="3465576" cy="122529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01368"/>
            <a:ext cx="50292" cy="1225296"/>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947672"/>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Analyst browser</a:t>
            </a:r>
          </a:p>
        </p:txBody>
      </p:sp>
      <p:sp>
        <p:nvSpPr>
          <p:cNvPr id="13" name="TextBox 12"/>
          <p:cNvSpPr txBox="1"/>
          <p:nvPr/>
        </p:nvSpPr>
        <p:spPr>
          <a:xfrm>
            <a:off x="713232" y="2459736"/>
            <a:ext cx="3145536" cy="493776"/>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React 19 + Vite</a:t>
            </a:r>
          </a:p>
        </p:txBody>
      </p:sp>
      <p:cxnSp>
        <p:nvCxnSpPr>
          <p:cNvPr id="14" name="Connector 13"/>
          <p:cNvCxnSpPr/>
          <p:nvPr/>
        </p:nvCxnSpPr>
        <p:spPr>
          <a:xfrm>
            <a:off x="4059935" y="2395728"/>
            <a:ext cx="256033"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61688" y="1801368"/>
            <a:ext cx="3465576" cy="122529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1801368"/>
            <a:ext cx="50292" cy="1225296"/>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1947672"/>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Local analyzer</a:t>
            </a:r>
          </a:p>
        </p:txBody>
      </p:sp>
      <p:sp>
        <p:nvSpPr>
          <p:cNvPr id="18" name="TextBox 17"/>
          <p:cNvSpPr txBox="1"/>
          <p:nvPr/>
        </p:nvSpPr>
        <p:spPr>
          <a:xfrm>
            <a:off x="4526279" y="2459736"/>
            <a:ext cx="3145536" cy="493776"/>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Python + Scapy + sklearn</a:t>
            </a:r>
          </a:p>
        </p:txBody>
      </p:sp>
      <p:sp>
        <p:nvSpPr>
          <p:cNvPr id="19" name="Rounded Rectangle 18"/>
          <p:cNvSpPr/>
          <p:nvPr/>
        </p:nvSpPr>
        <p:spPr>
          <a:xfrm>
            <a:off x="8174736" y="1801368"/>
            <a:ext cx="3465576" cy="1225296"/>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74736" y="1801368"/>
            <a:ext cx="50292" cy="1225296"/>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947672"/>
            <a:ext cx="3145536" cy="502920"/>
          </a:xfrm>
          <a:prstGeom prst="rect">
            <a:avLst/>
          </a:prstGeom>
          <a:noFill/>
        </p:spPr>
        <p:txBody>
          <a:bodyPr wrap="square" lIns="18288" rIns="18288" tIns="0" bIns="0">
            <a:spAutoFit/>
          </a:bodyPr>
          <a:lstStyle/>
          <a:p>
            <a:pPr>
              <a:spcAft>
                <a:spcPts val="200"/>
              </a:spcAft>
              <a:defRPr sz="2000" b="1">
                <a:solidFill>
                  <a:srgbClr val="0072BC"/>
                </a:solidFill>
                <a:latin typeface="Calibri"/>
              </a:defRPr>
            </a:pPr>
            <a:r>
              <a:t>Local API</a:t>
            </a:r>
          </a:p>
        </p:txBody>
      </p:sp>
      <p:sp>
        <p:nvSpPr>
          <p:cNvPr id="22" name="TextBox 21"/>
          <p:cNvSpPr txBox="1"/>
          <p:nvPr/>
        </p:nvSpPr>
        <p:spPr>
          <a:xfrm>
            <a:off x="8339327" y="2459736"/>
            <a:ext cx="3145536" cy="493776"/>
          </a:xfrm>
          <a:prstGeom prst="rect">
            <a:avLst/>
          </a:prstGeom>
          <a:noFill/>
        </p:spPr>
        <p:txBody>
          <a:bodyPr wrap="square" lIns="18288" rIns="18288" tIns="0" bIns="0">
            <a:spAutoFit/>
          </a:bodyPr>
          <a:lstStyle/>
          <a:p>
            <a:pPr>
              <a:spcAft>
                <a:spcPts val="200"/>
              </a:spcAft>
              <a:defRPr sz="1700" b="0">
                <a:solidFill>
                  <a:srgbClr val="22384B"/>
                </a:solidFill>
                <a:latin typeface="Calibri"/>
              </a:defRPr>
            </a:pPr>
            <a:r>
              <a:t>SQLite + gateway evidence</a:t>
            </a:r>
          </a:p>
        </p:txBody>
      </p:sp>
      <p:cxnSp>
        <p:nvCxnSpPr>
          <p:cNvPr id="23" name="Connector 22"/>
          <p:cNvCxnSpPr/>
          <p:nvPr/>
        </p:nvCxnSpPr>
        <p:spPr>
          <a:xfrm>
            <a:off x="2368296" y="3035808"/>
            <a:ext cx="0" cy="201168"/>
          </a:xfrm>
          <a:prstGeom prst="line">
            <a:avLst/>
          </a:prstGeom>
          <a:ln w="19050">
            <a:solidFill>
              <a:srgbClr val="0072B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68296" y="3236976"/>
            <a:ext cx="7635240" cy="0"/>
          </a:xfrm>
          <a:prstGeom prst="line">
            <a:avLst/>
          </a:prstGeom>
          <a:ln w="19050">
            <a:solidFill>
              <a:srgbClr val="0072B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003536" y="3035808"/>
            <a:ext cx="0" cy="201168"/>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3502152"/>
            <a:ext cx="5376672" cy="20391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502152"/>
            <a:ext cx="50292" cy="2039112"/>
          </a:xfrm>
          <a:prstGeom prst="rect">
            <a:avLst/>
          </a:prstGeom>
          <a:solidFill>
            <a:srgbClr val="218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648456"/>
            <a:ext cx="5056632" cy="502920"/>
          </a:xfrm>
          <a:prstGeom prst="rect">
            <a:avLst/>
          </a:prstGeom>
          <a:noFill/>
        </p:spPr>
        <p:txBody>
          <a:bodyPr wrap="square" lIns="18288" rIns="18288" tIns="0" bIns="0">
            <a:spAutoFit/>
          </a:bodyPr>
          <a:lstStyle/>
          <a:p>
            <a:pPr>
              <a:spcAft>
                <a:spcPts val="200"/>
              </a:spcAft>
              <a:defRPr sz="2100" b="1">
                <a:solidFill>
                  <a:srgbClr val="21815C"/>
                </a:solidFill>
                <a:latin typeface="Calibri"/>
              </a:defRPr>
            </a:pPr>
            <a:r>
              <a:t>Implemented locally</a:t>
            </a:r>
          </a:p>
        </p:txBody>
      </p:sp>
      <p:sp>
        <p:nvSpPr>
          <p:cNvPr id="29" name="TextBox 28"/>
          <p:cNvSpPr txBox="1"/>
          <p:nvPr/>
        </p:nvSpPr>
        <p:spPr>
          <a:xfrm>
            <a:off x="713232" y="4160520"/>
            <a:ext cx="5056632" cy="1307592"/>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PCAP upload + browser fallback</a:t>
            </a:r>
          </a:p>
          <a:p>
            <a:pPr>
              <a:spcAft>
                <a:spcPts val="200"/>
              </a:spcAft>
              <a:defRPr sz="2000" b="0">
                <a:solidFill>
                  <a:srgbClr val="22384B"/>
                </a:solidFill>
                <a:latin typeface="Calibri"/>
              </a:defRPr>
            </a:pPr>
            <a:r>
              <a:t>Four bundled model artifacts</a:t>
            </a:r>
          </a:p>
          <a:p>
            <a:pPr>
              <a:spcAft>
                <a:spcPts val="200"/>
              </a:spcAft>
              <a:defRPr sz="2000" b="0">
                <a:solidFill>
                  <a:srgbClr val="22384B"/>
                </a:solidFill>
                <a:latin typeface="Calibri"/>
              </a:defRPr>
            </a:pPr>
            <a:r>
              <a:t>Markdown/PDF reports + SQLite</a:t>
            </a:r>
          </a:p>
          <a:p>
            <a:pPr>
              <a:spcAft>
                <a:spcPts val="200"/>
              </a:spcAft>
              <a:defRPr sz="2000" b="0">
                <a:solidFill>
                  <a:srgbClr val="22384B"/>
                </a:solidFill>
                <a:latin typeface="Calibri"/>
              </a:defRPr>
            </a:pPr>
            <a:r>
              <a:t>Optional strongSwan SPI correlation</a:t>
            </a:r>
          </a:p>
        </p:txBody>
      </p:sp>
      <p:sp>
        <p:nvSpPr>
          <p:cNvPr id="30" name="Rounded Rectangle 29"/>
          <p:cNvSpPr/>
          <p:nvPr/>
        </p:nvSpPr>
        <p:spPr>
          <a:xfrm>
            <a:off x="6236208" y="3502152"/>
            <a:ext cx="5404104" cy="20391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8" y="3502152"/>
            <a:ext cx="50292" cy="2039112"/>
          </a:xfrm>
          <a:prstGeom prst="rect">
            <a:avLst/>
          </a:prstGeom>
          <a:solidFill>
            <a:srgbClr val="C7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648456"/>
            <a:ext cx="5084064" cy="502920"/>
          </a:xfrm>
          <a:prstGeom prst="rect">
            <a:avLst/>
          </a:prstGeom>
          <a:noFill/>
        </p:spPr>
        <p:txBody>
          <a:bodyPr wrap="square" lIns="18288" rIns="18288" tIns="0" bIns="0">
            <a:spAutoFit/>
          </a:bodyPr>
          <a:lstStyle/>
          <a:p>
            <a:pPr>
              <a:spcAft>
                <a:spcPts val="200"/>
              </a:spcAft>
              <a:defRPr sz="2100" b="1">
                <a:solidFill>
                  <a:srgbClr val="C77823"/>
                </a:solidFill>
                <a:latin typeface="Calibri"/>
              </a:defRPr>
            </a:pPr>
            <a:r>
              <a:t>Before operational deployment</a:t>
            </a:r>
          </a:p>
        </p:txBody>
      </p:sp>
      <p:sp>
        <p:nvSpPr>
          <p:cNvPr id="33" name="TextBox 32"/>
          <p:cNvSpPr txBox="1"/>
          <p:nvPr/>
        </p:nvSpPr>
        <p:spPr>
          <a:xfrm>
            <a:off x="6400800" y="4160520"/>
            <a:ext cx="5084064" cy="1307592"/>
          </a:xfrm>
          <a:prstGeom prst="rect">
            <a:avLst/>
          </a:prstGeom>
          <a:noFill/>
        </p:spPr>
        <p:txBody>
          <a:bodyPr wrap="square" lIns="18288" rIns="18288" tIns="0" bIns="0">
            <a:spAutoFit/>
          </a:bodyPr>
          <a:lstStyle/>
          <a:p>
            <a:pPr>
              <a:spcAft>
                <a:spcPts val="200"/>
              </a:spcAft>
              <a:defRPr sz="2000" b="0">
                <a:solidFill>
                  <a:srgbClr val="22384B"/>
                </a:solidFill>
                <a:latin typeface="Calibri"/>
              </a:defRPr>
            </a:pPr>
            <a:r>
              <a:t>Validate on unseen devices/networks</a:t>
            </a:r>
          </a:p>
          <a:p>
            <a:pPr>
              <a:spcAft>
                <a:spcPts val="200"/>
              </a:spcAft>
              <a:defRPr sz="2000" b="0">
                <a:solidFill>
                  <a:srgbClr val="22384B"/>
                </a:solidFill>
                <a:latin typeface="Calibri"/>
              </a:defRPr>
            </a:pPr>
            <a:r>
              <a:t>Calibrate confidence + add rejection</a:t>
            </a:r>
          </a:p>
          <a:p>
            <a:pPr>
              <a:spcAft>
                <a:spcPts val="200"/>
              </a:spcAft>
              <a:defRPr sz="2000" b="0">
                <a:solidFill>
                  <a:srgbClr val="22384B"/>
                </a:solidFill>
                <a:latin typeface="Calibri"/>
              </a:defRPr>
            </a:pPr>
            <a:r>
              <a:t>Complete container ML packaging</a:t>
            </a:r>
          </a:p>
          <a:p>
            <a:pPr>
              <a:spcAft>
                <a:spcPts val="200"/>
              </a:spcAft>
              <a:defRPr sz="2000" b="0">
                <a:solidFill>
                  <a:srgbClr val="22384B"/>
                </a:solidFill>
                <a:latin typeface="Calibri"/>
              </a:defRPr>
            </a:pPr>
            <a:r>
              <a:t>Deployment security + load testing</a:t>
            </a:r>
          </a:p>
        </p:txBody>
      </p:sp>
      <p:sp>
        <p:nvSpPr>
          <p:cNvPr id="34" name="Rounded Rectangle 33"/>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Bounded live-capture agent code exists. NIC capture and production deployment were not demonstrated in this audit.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12 / IMPACT AND PS ALIGNMENT</a:t>
            </a:r>
          </a:p>
        </p:txBody>
      </p:sp>
      <p:sp>
        <p:nvSpPr>
          <p:cNvPr id="3" name="TextBox 2"/>
          <p:cNvSpPr txBox="1"/>
          <p:nvPr/>
        </p:nvSpPr>
        <p:spPr>
          <a:xfrm>
            <a:off x="502920" y="667512"/>
            <a:ext cx="9646920" cy="685800"/>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The value is a consistent, reviewable investigation</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417320"/>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Evidence: parser outputs, dataset metadata, assessmentReport.ts and saved report exports. No time-saving benchmark is claimed.</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13</a:t>
            </a:r>
          </a:p>
        </p:txBody>
      </p:sp>
      <p:sp>
        <p:nvSpPr>
          <p:cNvPr id="10" name="TextBox 9"/>
          <p:cNvSpPr txBox="1"/>
          <p:nvPr/>
        </p:nvSpPr>
        <p:spPr>
          <a:xfrm>
            <a:off x="585216" y="1801368"/>
            <a:ext cx="5303520" cy="411480"/>
          </a:xfrm>
          <a:prstGeom prst="rect">
            <a:avLst/>
          </a:prstGeom>
          <a:noFill/>
        </p:spPr>
        <p:txBody>
          <a:bodyPr wrap="square" lIns="18288" rIns="18288" tIns="0" bIns="0">
            <a:spAutoFit/>
          </a:bodyPr>
          <a:lstStyle/>
          <a:p>
            <a:pPr>
              <a:spcAft>
                <a:spcPts val="200"/>
              </a:spcAft>
              <a:defRPr sz="2400" b="1">
                <a:solidFill>
                  <a:srgbClr val="526778"/>
                </a:solidFill>
                <a:latin typeface="Calibri"/>
              </a:defRPr>
            </a:pPr>
            <a:r>
              <a:t>Manual investigation</a:t>
            </a:r>
          </a:p>
        </p:txBody>
      </p:sp>
      <p:sp>
        <p:nvSpPr>
          <p:cNvPr id="11" name="TextBox 10"/>
          <p:cNvSpPr txBox="1"/>
          <p:nvPr/>
        </p:nvSpPr>
        <p:spPr>
          <a:xfrm>
            <a:off x="6345936" y="1801368"/>
            <a:ext cx="5303520" cy="411480"/>
          </a:xfrm>
          <a:prstGeom prst="rect">
            <a:avLst/>
          </a:prstGeom>
          <a:noFill/>
        </p:spPr>
        <p:txBody>
          <a:bodyPr wrap="square" lIns="18288" rIns="18288" tIns="0" bIns="0">
            <a:spAutoFit/>
          </a:bodyPr>
          <a:lstStyle/>
          <a:p>
            <a:pPr>
              <a:spcAft>
                <a:spcPts val="200"/>
              </a:spcAft>
              <a:defRPr sz="2400" b="1">
                <a:solidFill>
                  <a:srgbClr val="173D6A"/>
                </a:solidFill>
                <a:latin typeface="Calibri"/>
              </a:defRPr>
            </a:pPr>
            <a:r>
              <a:t>IPsec Sentinel prototype</a:t>
            </a:r>
          </a:p>
        </p:txBody>
      </p:sp>
      <p:sp>
        <p:nvSpPr>
          <p:cNvPr id="12" name="Rounded Rectangle 11"/>
          <p:cNvSpPr/>
          <p:nvPr/>
        </p:nvSpPr>
        <p:spPr>
          <a:xfrm>
            <a:off x="548640" y="2542032"/>
            <a:ext cx="4965192" cy="612648"/>
          </a:xfrm>
          <a:prstGeom prst="roundRect">
            <a:avLst>
              <a:gd name="adj" fmla="val 12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2688336"/>
            <a:ext cx="4590288" cy="347472"/>
          </a:xfrm>
          <a:prstGeom prst="rect">
            <a:avLst/>
          </a:prstGeom>
          <a:noFill/>
        </p:spPr>
        <p:txBody>
          <a:bodyPr wrap="square" lIns="18288" rIns="18288" tIns="0" bIns="0">
            <a:spAutoFit/>
          </a:bodyPr>
          <a:lstStyle/>
          <a:p>
            <a:pPr>
              <a:spcAft>
                <a:spcPts val="200"/>
              </a:spcAft>
              <a:defRPr sz="2000" b="0">
                <a:solidFill>
                  <a:srgbClr val="526778"/>
                </a:solidFill>
                <a:latin typeface="Calibri"/>
              </a:defRPr>
            </a:pPr>
            <a:r>
              <a:t>Inspect packets individually</a:t>
            </a:r>
          </a:p>
        </p:txBody>
      </p:sp>
      <p:cxnSp>
        <p:nvCxnSpPr>
          <p:cNvPr id="14" name="Connector 13"/>
          <p:cNvCxnSpPr/>
          <p:nvPr/>
        </p:nvCxnSpPr>
        <p:spPr>
          <a:xfrm>
            <a:off x="5623560" y="2852927"/>
            <a:ext cx="484632"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0" y="2542032"/>
            <a:ext cx="5422392" cy="61264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6" y="2688336"/>
            <a:ext cx="5047488" cy="347472"/>
          </a:xfrm>
          <a:prstGeom prst="rect">
            <a:avLst/>
          </a:prstGeom>
          <a:noFill/>
        </p:spPr>
        <p:txBody>
          <a:bodyPr wrap="square" lIns="18288" rIns="18288" tIns="0" bIns="0">
            <a:spAutoFit/>
          </a:bodyPr>
          <a:lstStyle/>
          <a:p>
            <a:pPr>
              <a:spcAft>
                <a:spcPts val="200"/>
              </a:spcAft>
              <a:defRPr sz="1900" b="1">
                <a:solidFill>
                  <a:srgbClr val="173D6A"/>
                </a:solidFill>
                <a:latin typeface="Calibri"/>
              </a:defRPr>
            </a:pPr>
            <a:r>
              <a:t>Structured protocol observations</a:t>
            </a:r>
          </a:p>
        </p:txBody>
      </p:sp>
      <p:sp>
        <p:nvSpPr>
          <p:cNvPr id="17" name="Rounded Rectangle 16"/>
          <p:cNvSpPr/>
          <p:nvPr/>
        </p:nvSpPr>
        <p:spPr>
          <a:xfrm>
            <a:off x="548640" y="3383279"/>
            <a:ext cx="4965192" cy="612648"/>
          </a:xfrm>
          <a:prstGeom prst="roundRect">
            <a:avLst>
              <a:gd name="adj" fmla="val 12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529584"/>
            <a:ext cx="4590288" cy="347472"/>
          </a:xfrm>
          <a:prstGeom prst="rect">
            <a:avLst/>
          </a:prstGeom>
          <a:noFill/>
        </p:spPr>
        <p:txBody>
          <a:bodyPr wrap="square" lIns="18288" rIns="18288" tIns="0" bIns="0">
            <a:spAutoFit/>
          </a:bodyPr>
          <a:lstStyle/>
          <a:p>
            <a:pPr>
              <a:spcAft>
                <a:spcPts val="200"/>
              </a:spcAft>
              <a:defRPr sz="2000" b="0">
                <a:solidFill>
                  <a:srgbClr val="526778"/>
                </a:solidFill>
                <a:latin typeface="Calibri"/>
              </a:defRPr>
            </a:pPr>
            <a:r>
              <a:t>Reconstruct the configuration</a:t>
            </a:r>
          </a:p>
        </p:txBody>
      </p:sp>
      <p:cxnSp>
        <p:nvCxnSpPr>
          <p:cNvPr id="19" name="Connector 18"/>
          <p:cNvCxnSpPr/>
          <p:nvPr/>
        </p:nvCxnSpPr>
        <p:spPr>
          <a:xfrm>
            <a:off x="5623560" y="3694176"/>
            <a:ext cx="484632"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17920" y="3383279"/>
            <a:ext cx="5422392" cy="61264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529584"/>
            <a:ext cx="5047488" cy="347472"/>
          </a:xfrm>
          <a:prstGeom prst="rect">
            <a:avLst/>
          </a:prstGeom>
          <a:noFill/>
        </p:spPr>
        <p:txBody>
          <a:bodyPr wrap="square" lIns="18288" rIns="18288" tIns="0" bIns="0">
            <a:spAutoFit/>
          </a:bodyPr>
          <a:lstStyle/>
          <a:p>
            <a:pPr>
              <a:spcAft>
                <a:spcPts val="200"/>
              </a:spcAft>
              <a:defRPr sz="1900" b="1">
                <a:solidFill>
                  <a:srgbClr val="173D6A"/>
                </a:solidFill>
                <a:latin typeface="Calibri"/>
              </a:defRPr>
            </a:pPr>
            <a:r>
              <a:t>Model estimates with explicit provenance</a:t>
            </a:r>
          </a:p>
        </p:txBody>
      </p:sp>
      <p:sp>
        <p:nvSpPr>
          <p:cNvPr id="22" name="Rounded Rectangle 21"/>
          <p:cNvSpPr/>
          <p:nvPr/>
        </p:nvSpPr>
        <p:spPr>
          <a:xfrm>
            <a:off x="548640" y="4224528"/>
            <a:ext cx="4965192" cy="612648"/>
          </a:xfrm>
          <a:prstGeom prst="roundRect">
            <a:avLst>
              <a:gd name="adj" fmla="val 12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4370832"/>
            <a:ext cx="4590288" cy="347472"/>
          </a:xfrm>
          <a:prstGeom prst="rect">
            <a:avLst/>
          </a:prstGeom>
          <a:noFill/>
        </p:spPr>
        <p:txBody>
          <a:bodyPr wrap="square" lIns="18288" rIns="18288" tIns="0" bIns="0">
            <a:spAutoFit/>
          </a:bodyPr>
          <a:lstStyle/>
          <a:p>
            <a:pPr>
              <a:spcAft>
                <a:spcPts val="200"/>
              </a:spcAft>
              <a:defRPr sz="2000" b="0">
                <a:solidFill>
                  <a:srgbClr val="526778"/>
                </a:solidFill>
                <a:latin typeface="Calibri"/>
              </a:defRPr>
            </a:pPr>
            <a:r>
              <a:t>Write the assessment by hand</a:t>
            </a:r>
          </a:p>
        </p:txBody>
      </p:sp>
      <p:cxnSp>
        <p:nvCxnSpPr>
          <p:cNvPr id="24" name="Connector 23"/>
          <p:cNvCxnSpPr/>
          <p:nvPr/>
        </p:nvCxnSpPr>
        <p:spPr>
          <a:xfrm>
            <a:off x="5623560" y="4535424"/>
            <a:ext cx="484632"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0" y="4224528"/>
            <a:ext cx="5422392" cy="61264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1656" y="4370832"/>
            <a:ext cx="5047488" cy="347472"/>
          </a:xfrm>
          <a:prstGeom prst="rect">
            <a:avLst/>
          </a:prstGeom>
          <a:noFill/>
        </p:spPr>
        <p:txBody>
          <a:bodyPr wrap="square" lIns="18288" rIns="18288" tIns="0" bIns="0">
            <a:spAutoFit/>
          </a:bodyPr>
          <a:lstStyle/>
          <a:p>
            <a:pPr>
              <a:spcAft>
                <a:spcPts val="200"/>
              </a:spcAft>
              <a:defRPr sz="1900" b="1">
                <a:solidFill>
                  <a:srgbClr val="173D6A"/>
                </a:solidFill>
                <a:latin typeface="Calibri"/>
              </a:defRPr>
            </a:pPr>
            <a:r>
              <a:t>Rule findings + evidence gaps + report</a:t>
            </a:r>
          </a:p>
        </p:txBody>
      </p:sp>
      <p:sp>
        <p:nvSpPr>
          <p:cNvPr id="27" name="TextBox 26"/>
          <p:cNvSpPr txBox="1"/>
          <p:nvPr/>
        </p:nvSpPr>
        <p:spPr>
          <a:xfrm>
            <a:off x="594360" y="5376672"/>
            <a:ext cx="2194560" cy="365760"/>
          </a:xfrm>
          <a:prstGeom prst="rect">
            <a:avLst/>
          </a:prstGeom>
          <a:noFill/>
        </p:spPr>
        <p:txBody>
          <a:bodyPr wrap="square" lIns="18288" rIns="18288" tIns="0" bIns="0">
            <a:spAutoFit/>
          </a:bodyPr>
          <a:lstStyle/>
          <a:p>
            <a:pPr>
              <a:spcAft>
                <a:spcPts val="200"/>
              </a:spcAft>
              <a:defRPr sz="1900" b="1">
                <a:solidFill>
                  <a:srgbClr val="0072BC"/>
                </a:solidFill>
                <a:latin typeface="Calibri"/>
              </a:defRPr>
            </a:pPr>
            <a:r>
              <a:t>Intended users</a:t>
            </a:r>
          </a:p>
        </p:txBody>
      </p:sp>
      <p:sp>
        <p:nvSpPr>
          <p:cNvPr id="28" name="TextBox 27"/>
          <p:cNvSpPr txBox="1"/>
          <p:nvPr/>
        </p:nvSpPr>
        <p:spPr>
          <a:xfrm>
            <a:off x="2834640" y="5394960"/>
            <a:ext cx="8778240" cy="365760"/>
          </a:xfrm>
          <a:prstGeom prst="rect">
            <a:avLst/>
          </a:prstGeom>
          <a:noFill/>
        </p:spPr>
        <p:txBody>
          <a:bodyPr wrap="square" lIns="18288" rIns="18288" tIns="0" bIns="0">
            <a:spAutoFit/>
          </a:bodyPr>
          <a:lstStyle/>
          <a:p>
            <a:pPr>
              <a:spcAft>
                <a:spcPts val="200"/>
              </a:spcAft>
              <a:defRPr sz="1900" b="0">
                <a:solidFill>
                  <a:srgbClr val="173D6A"/>
                </a:solidFill>
                <a:latin typeface="Calibri"/>
              </a:defRPr>
            </a:pPr>
            <a:r>
              <a:t>SOC analysts  •  Government / defence teams  •  Network auditors</a:t>
            </a:r>
          </a:p>
        </p:txBody>
      </p:sp>
      <p:sp>
        <p:nvSpPr>
          <p:cNvPr id="29" name="Rounded Rectangle 28"/>
          <p:cNvSpPr/>
          <p:nvPr/>
        </p:nvSpPr>
        <p:spPr>
          <a:xfrm>
            <a:off x="502920" y="5806440"/>
            <a:ext cx="11183112" cy="429768"/>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5888736"/>
            <a:ext cx="10835640" cy="292608"/>
          </a:xfrm>
          <a:prstGeom prst="rect">
            <a:avLst/>
          </a:prstGeom>
          <a:noFill/>
        </p:spPr>
        <p:txBody>
          <a:bodyPr wrap="square" lIns="18288" rIns="18288" tIns="0" bIns="0">
            <a:spAutoFit/>
          </a:bodyPr>
          <a:lstStyle/>
          <a:p>
            <a:pPr>
              <a:spcAft>
                <a:spcPts val="200"/>
              </a:spcAft>
              <a:defRPr sz="1500" b="0">
                <a:solidFill>
                  <a:srgbClr val="173D6A"/>
                </a:solidFill>
                <a:latin typeface="Calibri"/>
              </a:defRPr>
            </a:pPr>
            <a:r>
              <a:t>Demonstrated: repeatable processing and report output. Analyst time savings and field impact remain unmeasured.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46888"/>
            <a:ext cx="8229600" cy="274320"/>
          </a:xfrm>
          <a:prstGeom prst="rect">
            <a:avLst/>
          </a:prstGeom>
          <a:noFill/>
        </p:spPr>
        <p:txBody>
          <a:bodyPr wrap="square" lIns="18288" rIns="18288" tIns="0" bIns="0">
            <a:spAutoFit/>
          </a:bodyPr>
          <a:lstStyle/>
          <a:p>
            <a:pPr>
              <a:spcAft>
                <a:spcPts val="200"/>
              </a:spcAft>
              <a:defRPr sz="1100" b="1">
                <a:solidFill>
                  <a:srgbClr val="0072BC"/>
                </a:solidFill>
                <a:latin typeface="Calibri"/>
              </a:defRPr>
            </a:pPr>
            <a:r>
              <a:t>IPSEC SENTINEL / FINAL TAKEAWAY</a:t>
            </a:r>
          </a:p>
        </p:txBody>
      </p:sp>
      <p:sp>
        <p:nvSpPr>
          <p:cNvPr id="3" name="TextBox 2"/>
          <p:cNvSpPr txBox="1"/>
          <p:nvPr/>
        </p:nvSpPr>
        <p:spPr>
          <a:xfrm>
            <a:off x="502920" y="667512"/>
            <a:ext cx="9646920" cy="1115568"/>
          </a:xfrm>
          <a:prstGeom prst="rect">
            <a:avLst/>
          </a:prstGeom>
          <a:noFill/>
        </p:spPr>
        <p:txBody>
          <a:bodyPr wrap="square" lIns="18288" rIns="18288" tIns="0" bIns="0">
            <a:spAutoFit/>
          </a:bodyPr>
          <a:lstStyle/>
          <a:p>
            <a:pPr>
              <a:spcAft>
                <a:spcPts val="200"/>
              </a:spcAft>
              <a:defRPr sz="2900" b="1">
                <a:solidFill>
                  <a:srgbClr val="173D6A"/>
                </a:solidFill>
                <a:latin typeface="Georgia"/>
              </a:defRPr>
            </a:pPr>
            <a:r>
              <a:t>From encrypted IPsec packet captures</a:t>
            </a:r>
          </a:p>
          <a:p>
            <a:pPr>
              <a:spcAft>
                <a:spcPts val="200"/>
              </a:spcAft>
              <a:defRPr sz="2900" b="1">
                <a:solidFill>
                  <a:srgbClr val="173D6A"/>
                </a:solidFill>
                <a:latin typeface="Georgia"/>
              </a:defRPr>
            </a:pPr>
            <a:r>
              <a:t>to explainable security assessment.</a:t>
            </a:r>
          </a:p>
        </p:txBody>
      </p:sp>
      <p:pic>
        <p:nvPicPr>
          <p:cNvPr id="4" name="Picture 3" descr="image2.png"/>
          <p:cNvPicPr>
            <a:picLocks noChangeAspect="1"/>
          </p:cNvPicPr>
          <p:nvPr/>
        </p:nvPicPr>
        <p:blipFill>
          <a:blip r:embed="rId2"/>
          <a:stretch>
            <a:fillRect/>
          </a:stretch>
        </p:blipFill>
        <p:spPr>
          <a:xfrm>
            <a:off x="10305288" y="201168"/>
            <a:ext cx="1371600" cy="647644"/>
          </a:xfrm>
          <a:prstGeom prst="rect">
            <a:avLst/>
          </a:prstGeom>
        </p:spPr>
      </p:pic>
      <p:sp>
        <p:nvSpPr>
          <p:cNvPr id="5" name="Rectangle 4"/>
          <p:cNvSpPr/>
          <p:nvPr/>
        </p:nvSpPr>
        <p:spPr>
          <a:xfrm>
            <a:off x="502920" y="1901952"/>
            <a:ext cx="576072" cy="5029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45936"/>
            <a:ext cx="11155680" cy="201168"/>
          </a:xfrm>
          <a:prstGeom prst="rect">
            <a:avLst/>
          </a:prstGeom>
          <a:noFill/>
        </p:spPr>
        <p:txBody>
          <a:bodyPr wrap="square" lIns="18288" rIns="18288" tIns="0" bIns="0">
            <a:spAutoFit/>
          </a:bodyPr>
          <a:lstStyle/>
          <a:p>
            <a:pPr>
              <a:spcAft>
                <a:spcPts val="200"/>
              </a:spcAft>
              <a:defRPr sz="919" b="0">
                <a:solidFill>
                  <a:srgbClr val="526778"/>
                </a:solidFill>
                <a:latin typeface="Calibri"/>
              </a:defRPr>
            </a:pPr>
            <a:r>
              <a:t>Evidence pack: PPT_FACT_CHECK.md • SPEAKER_NOTES.md • presentation_work/evidence/ • rendered_slides/</a:t>
            </a:r>
          </a:p>
        </p:txBody>
      </p:sp>
      <p:sp>
        <p:nvSpPr>
          <p:cNvPr id="7" name="Rectangle 6"/>
          <p:cNvSpPr/>
          <p:nvPr/>
        </p:nvSpPr>
        <p:spPr>
          <a:xfrm>
            <a:off x="0" y="6611112"/>
            <a:ext cx="12191999" cy="246888"/>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661404"/>
            <a:ext cx="9144000" cy="137160"/>
          </a:xfrm>
          <a:prstGeom prst="rect">
            <a:avLst/>
          </a:prstGeom>
          <a:noFill/>
        </p:spPr>
        <p:txBody>
          <a:bodyPr wrap="square" lIns="18288" rIns="18288" tIns="0" bIns="0">
            <a:spAutoFit/>
          </a:bodyPr>
          <a:lstStyle/>
          <a:p>
            <a:pPr>
              <a:spcAft>
                <a:spcPts val="200"/>
              </a:spcAft>
              <a:defRPr sz="850" b="0">
                <a:solidFill>
                  <a:srgbClr val="FFFFFF"/>
                </a:solidFill>
                <a:latin typeface="Calibri"/>
              </a:defRPr>
            </a:pPr>
            <a:r>
              <a:t>SMART INDIA HACKATHON 2026   |   PS 26160   |   NTRO</a:t>
            </a:r>
          </a:p>
        </p:txBody>
      </p:sp>
      <p:sp>
        <p:nvSpPr>
          <p:cNvPr id="9" name="TextBox 8"/>
          <p:cNvSpPr txBox="1"/>
          <p:nvPr/>
        </p:nvSpPr>
        <p:spPr>
          <a:xfrm>
            <a:off x="11128248" y="6643116"/>
            <a:ext cx="548640" cy="182880"/>
          </a:xfrm>
          <a:prstGeom prst="rect">
            <a:avLst/>
          </a:prstGeom>
          <a:noFill/>
        </p:spPr>
        <p:txBody>
          <a:bodyPr wrap="square" lIns="18288" rIns="18288" tIns="0" bIns="0">
            <a:spAutoFit/>
          </a:bodyPr>
          <a:lstStyle/>
          <a:p>
            <a:pPr algn="r">
              <a:spcAft>
                <a:spcPts val="200"/>
              </a:spcAft>
              <a:defRPr sz="1000" b="1">
                <a:solidFill>
                  <a:srgbClr val="FFFFFF"/>
                </a:solidFill>
                <a:latin typeface="Calibri"/>
              </a:defRPr>
            </a:pPr>
            <a:r>
              <a:t>14</a:t>
            </a:r>
          </a:p>
        </p:txBody>
      </p:sp>
      <p:sp>
        <p:nvSpPr>
          <p:cNvPr id="10" name="TextBox 9"/>
          <p:cNvSpPr txBox="1"/>
          <p:nvPr/>
        </p:nvSpPr>
        <p:spPr>
          <a:xfrm>
            <a:off x="566928" y="2240280"/>
            <a:ext cx="11000232" cy="795528"/>
          </a:xfrm>
          <a:prstGeom prst="rect">
            <a:avLst/>
          </a:prstGeom>
          <a:noFill/>
        </p:spPr>
        <p:txBody>
          <a:bodyPr wrap="square" lIns="18288" rIns="18288" tIns="0" bIns="0">
            <a:spAutoFit/>
          </a:bodyPr>
          <a:lstStyle/>
          <a:p>
            <a:pPr>
              <a:spcAft>
                <a:spcPts val="200"/>
              </a:spcAft>
              <a:defRPr sz="2500" b="1">
                <a:solidFill>
                  <a:srgbClr val="0072BC"/>
                </a:solidFill>
                <a:latin typeface="Calibri"/>
              </a:defRPr>
            </a:pPr>
            <a:r>
              <a:t>Observe what is visible. Label what is inferred. Show what is unknown.</a:t>
            </a:r>
          </a:p>
        </p:txBody>
      </p:sp>
      <p:sp>
        <p:nvSpPr>
          <p:cNvPr id="11" name="Rounded Rectangle 10"/>
          <p:cNvSpPr/>
          <p:nvPr/>
        </p:nvSpPr>
        <p:spPr>
          <a:xfrm>
            <a:off x="548640" y="3547872"/>
            <a:ext cx="3465576" cy="13533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547872"/>
            <a:ext cx="50292" cy="1353312"/>
          </a:xfrm>
          <a:prstGeom prst="rect">
            <a:avLst/>
          </a:prstGeom>
          <a:solidFill>
            <a:srgbClr val="173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694176"/>
            <a:ext cx="3145536" cy="502920"/>
          </a:xfrm>
          <a:prstGeom prst="rect">
            <a:avLst/>
          </a:prstGeom>
          <a:noFill/>
        </p:spPr>
        <p:txBody>
          <a:bodyPr wrap="square" lIns="18288" rIns="18288" tIns="0" bIns="0">
            <a:spAutoFit/>
          </a:bodyPr>
          <a:lstStyle/>
          <a:p>
            <a:pPr>
              <a:spcAft>
                <a:spcPts val="200"/>
              </a:spcAft>
              <a:defRPr sz="2200" b="1">
                <a:solidFill>
                  <a:srgbClr val="173D6A"/>
                </a:solidFill>
                <a:latin typeface="Calibri"/>
              </a:defRPr>
            </a:pPr>
            <a:r>
              <a:t>Packet evidence</a:t>
            </a:r>
          </a:p>
        </p:txBody>
      </p:sp>
      <p:sp>
        <p:nvSpPr>
          <p:cNvPr id="14" name="TextBox 13"/>
          <p:cNvSpPr txBox="1"/>
          <p:nvPr/>
        </p:nvSpPr>
        <p:spPr>
          <a:xfrm>
            <a:off x="713232" y="4206240"/>
            <a:ext cx="3145536" cy="621792"/>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IKE + ESP metadata</a:t>
            </a:r>
          </a:p>
        </p:txBody>
      </p:sp>
      <p:cxnSp>
        <p:nvCxnSpPr>
          <p:cNvPr id="15" name="Connector 14"/>
          <p:cNvCxnSpPr/>
          <p:nvPr/>
        </p:nvCxnSpPr>
        <p:spPr>
          <a:xfrm>
            <a:off x="4059935" y="4224528"/>
            <a:ext cx="256033"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61688" y="3547872"/>
            <a:ext cx="3465576" cy="13533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61688" y="3547872"/>
            <a:ext cx="50292" cy="1353312"/>
          </a:xfrm>
          <a:prstGeom prst="rect">
            <a:avLst/>
          </a:prstGeom>
          <a:solidFill>
            <a:srgbClr val="0072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79" y="3694176"/>
            <a:ext cx="3145536" cy="502920"/>
          </a:xfrm>
          <a:prstGeom prst="rect">
            <a:avLst/>
          </a:prstGeom>
          <a:noFill/>
        </p:spPr>
        <p:txBody>
          <a:bodyPr wrap="square" lIns="18288" rIns="18288" tIns="0" bIns="0">
            <a:spAutoFit/>
          </a:bodyPr>
          <a:lstStyle/>
          <a:p>
            <a:pPr>
              <a:spcAft>
                <a:spcPts val="200"/>
              </a:spcAft>
              <a:defRPr sz="2200" b="1">
                <a:solidFill>
                  <a:srgbClr val="0072BC"/>
                </a:solidFill>
                <a:latin typeface="Calibri"/>
              </a:defRPr>
            </a:pPr>
            <a:r>
              <a:t>Bounded ML role</a:t>
            </a:r>
          </a:p>
        </p:txBody>
      </p:sp>
      <p:sp>
        <p:nvSpPr>
          <p:cNvPr id="19" name="TextBox 18"/>
          <p:cNvSpPr txBox="1"/>
          <p:nvPr/>
        </p:nvSpPr>
        <p:spPr>
          <a:xfrm>
            <a:off x="4526279" y="4206240"/>
            <a:ext cx="3145536" cy="621792"/>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4 crypto estimates</a:t>
            </a:r>
          </a:p>
        </p:txBody>
      </p:sp>
      <p:cxnSp>
        <p:nvCxnSpPr>
          <p:cNvPr id="20" name="Connector 19"/>
          <p:cNvCxnSpPr/>
          <p:nvPr/>
        </p:nvCxnSpPr>
        <p:spPr>
          <a:xfrm>
            <a:off x="7872983" y="4224528"/>
            <a:ext cx="256033" cy="0"/>
          </a:xfrm>
          <a:prstGeom prst="line">
            <a:avLst/>
          </a:prstGeom>
          <a:ln w="19050">
            <a:solidFill>
              <a:srgbClr val="0072BC"/>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74736" y="3547872"/>
            <a:ext cx="3465576" cy="1353312"/>
          </a:xfrm>
          <a:prstGeom prst="roundRect">
            <a:avLst>
              <a:gd name="adj" fmla="val 12000"/>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3547872"/>
            <a:ext cx="50292" cy="1353312"/>
          </a:xfrm>
          <a:prstGeom prst="rect">
            <a:avLst/>
          </a:prstGeom>
          <a:solidFill>
            <a:srgbClr val="45A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3694176"/>
            <a:ext cx="3145536" cy="502920"/>
          </a:xfrm>
          <a:prstGeom prst="rect">
            <a:avLst/>
          </a:prstGeom>
          <a:noFill/>
        </p:spPr>
        <p:txBody>
          <a:bodyPr wrap="square" lIns="18288" rIns="18288" tIns="0" bIns="0">
            <a:spAutoFit/>
          </a:bodyPr>
          <a:lstStyle/>
          <a:p>
            <a:pPr>
              <a:spcAft>
                <a:spcPts val="200"/>
              </a:spcAft>
              <a:defRPr sz="2200" b="1">
                <a:solidFill>
                  <a:srgbClr val="45ADC4"/>
                </a:solidFill>
                <a:latin typeface="Calibri"/>
              </a:defRPr>
            </a:pPr>
            <a:r>
              <a:t>Explainable output</a:t>
            </a:r>
          </a:p>
        </p:txBody>
      </p:sp>
      <p:sp>
        <p:nvSpPr>
          <p:cNvPr id="24" name="TextBox 23"/>
          <p:cNvSpPr txBox="1"/>
          <p:nvPr/>
        </p:nvSpPr>
        <p:spPr>
          <a:xfrm>
            <a:off x="8339327" y="4206240"/>
            <a:ext cx="3145536" cy="621792"/>
          </a:xfrm>
          <a:prstGeom prst="rect">
            <a:avLst/>
          </a:prstGeom>
          <a:noFill/>
        </p:spPr>
        <p:txBody>
          <a:bodyPr wrap="square" lIns="18288" rIns="18288" tIns="0" bIns="0">
            <a:spAutoFit/>
          </a:bodyPr>
          <a:lstStyle/>
          <a:p>
            <a:pPr>
              <a:spcAft>
                <a:spcPts val="200"/>
              </a:spcAft>
              <a:defRPr sz="1900" b="0">
                <a:solidFill>
                  <a:srgbClr val="22384B"/>
                </a:solidFill>
                <a:latin typeface="Calibri"/>
              </a:defRPr>
            </a:pPr>
            <a:r>
              <a:t>Findings + provenance</a:t>
            </a:r>
          </a:p>
        </p:txBody>
      </p:sp>
      <p:sp>
        <p:nvSpPr>
          <p:cNvPr id="25" name="TextBox 24"/>
          <p:cNvSpPr txBox="1"/>
          <p:nvPr/>
        </p:nvSpPr>
        <p:spPr>
          <a:xfrm>
            <a:off x="576072" y="5550408"/>
            <a:ext cx="10927080" cy="502920"/>
          </a:xfrm>
          <a:prstGeom prst="rect">
            <a:avLst/>
          </a:prstGeom>
          <a:noFill/>
        </p:spPr>
        <p:txBody>
          <a:bodyPr wrap="square" lIns="18288" rIns="18288" tIns="0" bIns="0">
            <a:spAutoFit/>
          </a:bodyPr>
          <a:lstStyle/>
          <a:p>
            <a:pPr algn="ctr">
              <a:spcAft>
                <a:spcPts val="200"/>
              </a:spcAft>
              <a:defRPr sz="2400" b="1">
                <a:solidFill>
                  <a:srgbClr val="173D6A"/>
                </a:solidFill>
                <a:latin typeface="Calibri"/>
              </a:defRPr>
            </a:pPr>
            <a:r>
              <a:t>SIH 2026   /   PS 26160   /   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IPsec Sentinel | SIH 2026 | PS 26160</dc:title>
  <dc:subject>Evidence-driven technical presentation for NTRO</dc:subject>
  <dc:creator>IPsec Sentinel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